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modernComment_101_17C2538F.xml" ContentType="application/vnd.ms-powerpoint.comments+xml"/>
  <Override PartName="/ppt/notesSlides/notesSlide1.xml" ContentType="application/vnd.openxmlformats-officedocument.presentationml.notesSlide+xml"/>
  <Override PartName="/ppt/comments/modernComment_122_15AE29C1.xml" ContentType="application/vnd.ms-powerpoint.comments+xml"/>
  <Override PartName="/ppt/comments/modernComment_117_F8628564.xml" ContentType="application/vnd.ms-powerpoint.comments+xml"/>
  <Override PartName="/ppt/comments/modernComment_10D_E7096B6B.xml" ContentType="application/vnd.ms-powerpoint.comments+xml"/>
  <Override PartName="/ppt/comments/modernComment_119_F918252B.xml" ContentType="application/vnd.ms-powerpoint.comments+xml"/>
  <Override PartName="/ppt/comments/modernComment_11A_95E12F10.xml" ContentType="application/vnd.ms-powerpoint.comments+xml"/>
  <Override PartName="/ppt/comments/modernComment_114_FFBC9972.xml" ContentType="application/vnd.ms-powerpoint.comments+xml"/>
  <Override PartName="/ppt/comments/modernComment_11C_E3527EA9.xml" ContentType="application/vnd.ms-powerpoint.comments+xml"/>
  <Override PartName="/ppt/comments/modernComment_11D_9892FC77.xml" ContentType="application/vnd.ms-powerpoint.comments+xml"/>
  <Override PartName="/ppt/comments/modernComment_11E_FD50C888.xml" ContentType="application/vnd.ms-powerpoint.comments+xml"/>
  <Override PartName="/ppt/comments/modernComment_11F_7FC05C.xml" ContentType="application/vnd.ms-powerpoint.comments+xml"/>
  <Override PartName="/ppt/comments/modernComment_116_F9EB27A7.xml" ContentType="application/vnd.ms-powerpoint.comments+xml"/>
  <Override PartName="/ppt/comments/modernComment_121_26F8E96C.xml" ContentType="application/vnd.ms-powerpoint.comments+xml"/>
  <Override PartName="/ppt/comments/modernComment_120_6FA41D70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90" r:id="rId4"/>
    <p:sldId id="280" r:id="rId5"/>
    <p:sldId id="279" r:id="rId6"/>
    <p:sldId id="269" r:id="rId7"/>
    <p:sldId id="281" r:id="rId8"/>
    <p:sldId id="282" r:id="rId9"/>
    <p:sldId id="283" r:id="rId10"/>
    <p:sldId id="276" r:id="rId11"/>
    <p:sldId id="284" r:id="rId12"/>
    <p:sldId id="285" r:id="rId13"/>
    <p:sldId id="286" r:id="rId14"/>
    <p:sldId id="287" r:id="rId15"/>
    <p:sldId id="278" r:id="rId16"/>
    <p:sldId id="289" r:id="rId17"/>
    <p:sldId id="288" r:id="rId18"/>
    <p:sldId id="26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EB8F36-68A8-9F21-64ED-BE17447926FA}" name="Utilizador Convidado" initials="UC" userId="Utilizador Convidado" providerId="Windows Live"/>
  <p188:author id="{7065AB3C-5872-D337-06E4-C1272E412F1B}" name="Hugo Hilário Varela" initials="HV" userId="2ba3276fb0df60fe" providerId="Windows Live"/>
  <p188:author id="{7428F096-D553-E6CE-B306-86B301251544}" name="Filipa Vilas Boas" initials="FB" userId="d7defbe7799d47e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CC9AA4-D334-35D2-5137-D2B2EF50D6CE}" v="30" dt="2025-11-23T20:33:14.376"/>
    <p1510:client id="{B92360F1-8D36-B06D-A1BF-E302D637B8AD}" v="10" dt="2025-11-23T16:23:01.1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comments/modernComment_10D_E7096B6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AFBBEA6-D247-4C09-A566-2AB9D546D9DF}" authorId="{7428F096-D553-E6CE-B306-86B301251544}" created="2025-11-20T21:17:35">
    <pc:sldMkLst xmlns:pc="http://schemas.microsoft.com/office/powerpoint/2013/main/command">
      <pc:docMk/>
      <pc:sldMk cId="3876154219" sldId="269"/>
    </pc:sldMkLst>
    <p188:txBody>
      <a:bodyPr/>
      <a:lstStyle/>
      <a:p>
        <a:r>
          <a:rPr lang="pt-PT"/>
          <a:t>Joana</a:t>
        </a:r>
      </a:p>
    </p188:txBody>
  </p188:cm>
</p188:cmLst>
</file>

<file path=ppt/comments/modernComment_11A_95E12F1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58D2505-9391-46C2-8FCC-64F826AF302B}" authorId="{7428F096-D553-E6CE-B306-86B301251544}" created="2025-11-20T21:17:48.313">
    <pc:sldMkLst xmlns:pc="http://schemas.microsoft.com/office/powerpoint/2013/main/command">
      <pc:docMk/>
      <pc:sldMk cId="2514562832" sldId="282"/>
    </pc:sldMkLst>
    <p188:txBody>
      <a:bodyPr/>
      <a:lstStyle/>
      <a:p>
        <a:r>
          <a:rPr lang="pt-PT"/>
          <a:t>Hugo</a:t>
        </a:r>
      </a:p>
    </p188:txBody>
  </p188:cm>
</p188:cmLst>
</file>

<file path=ppt/comments/modernComment_11C_E3527EA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F418859-81B3-4D7A-A4DB-DB17BBB4457A}" authorId="{54EB8F36-68A8-9F21-64ED-BE17447926FA}" created="2025-11-19T20:17:41.44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290550130" sldId="276"/>
      <ac:spMk id="2" creationId="{4D15C629-291A-C979-C2BC-2E4862EB8A0C}"/>
      <ac:txMk cp="15" len="58">
        <ac:context len="75" hash="2991196770"/>
      </ac:txMk>
    </ac:txMkLst>
    <p188:pos x="3901440" y="406400"/>
    <p188:txBody>
      <a:bodyPr/>
      <a:lstStyle/>
      <a:p>
        <a:r>
          <a:rPr lang="pt-BR"/>
          <a:t>Alterei a pergunta: Correlation between assenger fare and Survival Probability</a:t>
        </a:r>
      </a:p>
    </p188:txBody>
  </p188:cm>
  <p188:cm id="{9F0A5B14-DBED-45C2-906B-C0C7F9E917EE}" authorId="{7428F096-D553-E6CE-B306-86B301251544}" created="2025-11-20T21:18:02.220">
    <pc:sldMkLst xmlns:pc="http://schemas.microsoft.com/office/powerpoint/2013/main/command">
      <pc:docMk/>
      <pc:sldMk cId="3813834409" sldId="284"/>
    </pc:sldMkLst>
    <p188:txBody>
      <a:bodyPr/>
      <a:lstStyle/>
      <a:p>
        <a:r>
          <a:rPr lang="pt-PT"/>
          <a:t>Hugo</a:t>
        </a:r>
      </a:p>
    </p188:txBody>
  </p188:cm>
</p188:cmLst>
</file>

<file path=ppt/comments/modernComment_11D_9892FC7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9530763-01D1-43EB-8E36-2A70B425D355}" authorId="{7428F096-D553-E6CE-B306-86B301251544}" created="2025-11-20T21:05:00.533">
    <pc:sldMkLst xmlns:pc="http://schemas.microsoft.com/office/powerpoint/2013/main/command">
      <pc:docMk/>
      <pc:sldMk cId="2559769719" sldId="285"/>
    </pc:sldMkLst>
    <p188:replyLst>
      <p188:reply id="{9E60E95E-D7C0-471C-8FE2-5CB2448D5BE2}" authorId="{7428F096-D553-E6CE-B306-86B301251544}" created="2025-11-20T21:15:50.139">
        <p188:txBody>
          <a:bodyPr/>
          <a:lstStyle/>
          <a:p>
            <a:r>
              <a:rPr lang="pt-PT"/>
              <a:t>percentagem face ao total dos passageiros. </a:t>
            </a:r>
          </a:p>
        </p188:txBody>
      </p188:reply>
    </p188:replyLst>
    <p188:txBody>
      <a:bodyPr/>
      <a:lstStyle/>
      <a:p>
        <a:r>
          <a:rPr lang="pt-PT"/>
          <a:t>percentagens acumulativas</a:t>
        </a:r>
      </a:p>
    </p188:txBody>
  </p188:cm>
  <p188:cm id="{2B1BD167-57BB-41F4-BB7A-8EE6FDE1C29B}" authorId="{7428F096-D553-E6CE-B306-86B301251544}" created="2025-11-20T21:18:13.579">
    <pc:sldMkLst xmlns:pc="http://schemas.microsoft.com/office/powerpoint/2013/main/command">
      <pc:docMk/>
      <pc:sldMk cId="2559769719" sldId="285"/>
    </pc:sldMkLst>
    <p188:txBody>
      <a:bodyPr/>
      <a:lstStyle/>
      <a:p>
        <a:r>
          <a:rPr lang="pt-PT"/>
          <a:t>Filipa</a:t>
        </a:r>
      </a:p>
    </p188:txBody>
  </p188:cm>
</p188:cmLst>
</file>

<file path=ppt/comments/modernComment_11E_FD50C88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8E25D8B-B50A-4EC5-881A-D5B0054B3718}" authorId="{7428F096-D553-E6CE-B306-86B301251544}" created="2025-11-20T21:18:23.236">
    <pc:sldMkLst xmlns:pc="http://schemas.microsoft.com/office/powerpoint/2013/main/command">
      <pc:docMk/>
      <pc:sldMk cId="4249929864" sldId="286"/>
    </pc:sldMkLst>
    <p188:txBody>
      <a:bodyPr/>
      <a:lstStyle/>
      <a:p>
        <a:r>
          <a:rPr lang="pt-PT"/>
          <a:t>Filipa</a:t>
        </a:r>
      </a:p>
    </p188:txBody>
  </p188:cm>
</p188:cmLst>
</file>

<file path=ppt/comments/modernComment_11F_7FC05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1910A4E-D28A-4F65-9B71-EF791875867D}" authorId="{7428F096-D553-E6CE-B306-86B301251544}" created="2025-11-20T21:18:27.861">
    <pc:sldMkLst xmlns:pc="http://schemas.microsoft.com/office/powerpoint/2013/main/command">
      <pc:docMk/>
      <pc:sldMk cId="8372316" sldId="287"/>
    </pc:sldMkLst>
    <p188:txBody>
      <a:bodyPr/>
      <a:lstStyle/>
      <a:p>
        <a:r>
          <a:rPr lang="pt-PT"/>
          <a:t>Joana</a:t>
        </a:r>
      </a:p>
    </p188:txBody>
  </p188:cm>
</p188:cmLst>
</file>

<file path=ppt/comments/modernComment_101_17C2538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BAF8517-CC40-4EBA-A5BE-5635BB019270}" authorId="{7428F096-D553-E6CE-B306-86B301251544}" created="2025-11-20T21:17:13.438">
    <pc:sldMkLst xmlns:pc="http://schemas.microsoft.com/office/powerpoint/2013/main/command">
      <pc:docMk/>
      <pc:sldMk cId="398611343" sldId="257"/>
    </pc:sldMkLst>
    <p188:txBody>
      <a:bodyPr/>
      <a:lstStyle/>
      <a:p>
        <a:r>
          <a:rPr lang="pt-PT"/>
          <a:t>fillipa</a:t>
        </a:r>
      </a:p>
    </p188:txBody>
  </p188:cm>
</p188:cmLst>
</file>

<file path=ppt/comments/modernComment_114_FFBC997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46F2AA9-4EC8-472A-955B-6CE8A2DD3075}" authorId="{54EB8F36-68A8-9F21-64ED-BE17447926FA}" created="2025-11-19T20:17:41.44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290550130" sldId="276"/>
      <ac:spMk id="2" creationId="{4D15C629-291A-C979-C2BC-2E4862EB8A0C}"/>
      <ac:txMk cp="15" len="58">
        <ac:context len="75" hash="2991196770"/>
      </ac:txMk>
    </ac:txMkLst>
    <p188:pos x="3901440" y="406400"/>
    <p188:txBody>
      <a:bodyPr/>
      <a:lstStyle/>
      <a:p>
        <a:r>
          <a:rPr lang="pt-BR"/>
          <a:t>Alterei a pergunta: Correlation between assenger fare and Survival Probability</a:t>
        </a:r>
      </a:p>
    </p188:txBody>
  </p188:cm>
  <p188:cm id="{382352F1-34B7-4BDE-A78D-0AD078CDF615}" authorId="{7428F096-D553-E6CE-B306-86B301251544}" created="2025-11-20T21:17:56.782">
    <pc:sldMkLst xmlns:pc="http://schemas.microsoft.com/office/powerpoint/2013/main/command">
      <pc:docMk/>
      <pc:sldMk cId="4290550130" sldId="276"/>
    </pc:sldMkLst>
    <p188:txBody>
      <a:bodyPr/>
      <a:lstStyle/>
      <a:p>
        <a:r>
          <a:rPr lang="pt-PT"/>
          <a:t>Hugo</a:t>
        </a:r>
      </a:p>
    </p188:txBody>
  </p188:cm>
</p188:cmLst>
</file>

<file path=ppt/comments/modernComment_116_F9EB27A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1C71B3E-63F7-4BC3-BDC1-C36B4BF34FCD}" authorId="{7428F096-D553-E6CE-B306-86B301251544}" created="2025-11-20T21:18:34.861">
    <pc:sldMkLst xmlns:pc="http://schemas.microsoft.com/office/powerpoint/2013/main/command">
      <pc:docMk/>
      <pc:sldMk cId="4192937895" sldId="278"/>
    </pc:sldMkLst>
    <p188:txBody>
      <a:bodyPr/>
      <a:lstStyle/>
      <a:p>
        <a:r>
          <a:rPr lang="pt-PT"/>
          <a:t>Joana</a:t>
        </a:r>
      </a:p>
    </p188:txBody>
  </p188:cm>
</p188:cmLst>
</file>

<file path=ppt/comments/modernComment_117_F862856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19227EF-4371-4079-B93C-0A9066FF118B}" authorId="{7428F096-D553-E6CE-B306-86B301251544}" created="2025-11-20T21:17:29.844">
    <pc:sldMkLst xmlns:pc="http://schemas.microsoft.com/office/powerpoint/2013/main/command">
      <pc:docMk/>
      <pc:sldMk cId="4167206244" sldId="279"/>
    </pc:sldMkLst>
    <p188:txBody>
      <a:bodyPr/>
      <a:lstStyle/>
      <a:p>
        <a:r>
          <a:rPr lang="pt-PT"/>
          <a:t>Joana</a:t>
        </a:r>
      </a:p>
    </p188:txBody>
  </p188:cm>
</p188:cmLst>
</file>

<file path=ppt/comments/modernComment_119_F918252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BBCF5B5-63C2-4DA2-8E91-3A58A0E4F449}" authorId="{7428F096-D553-E6CE-B306-86B301251544}" created="2025-11-20T21:17:39.954">
    <pc:sldMkLst xmlns:pc="http://schemas.microsoft.com/office/powerpoint/2013/main/command">
      <pc:docMk/>
      <pc:sldMk cId="4179109163" sldId="281"/>
    </pc:sldMkLst>
    <p188:txBody>
      <a:bodyPr/>
      <a:lstStyle/>
      <a:p>
        <a:r>
          <a:rPr lang="pt-PT"/>
          <a:t>Joana</a:t>
        </a:r>
      </a:p>
    </p188:txBody>
  </p188:cm>
</p188:cmLst>
</file>

<file path=ppt/comments/modernComment_120_6FA41D7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C580BC9-2243-4158-A2F2-42EC30E266EE}" authorId="{7428F096-D553-E6CE-B306-86B301251544}" created="2025-11-20T21:18:48.205">
    <pc:sldMkLst xmlns:pc="http://schemas.microsoft.com/office/powerpoint/2013/main/command">
      <pc:docMk/>
      <pc:sldMk cId="1873026416" sldId="288"/>
    </pc:sldMkLst>
    <p188:txBody>
      <a:bodyPr/>
      <a:lstStyle/>
      <a:p>
        <a:r>
          <a:rPr lang="pt-PT"/>
          <a:t>Joana</a:t>
        </a:r>
      </a:p>
    </p188:txBody>
  </p188:cm>
</p188:cmLst>
</file>

<file path=ppt/comments/modernComment_121_26F8E96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95E088E-D132-47DA-B4A1-C80F5D562CE9}" authorId="{7428F096-D553-E6CE-B306-86B301251544}" created="2025-11-20T21:18:41.564">
    <pc:sldMkLst xmlns:pc="http://schemas.microsoft.com/office/powerpoint/2013/main/command">
      <pc:docMk/>
      <pc:sldMk cId="653846892" sldId="289"/>
    </pc:sldMkLst>
    <p188:txBody>
      <a:bodyPr/>
      <a:lstStyle/>
      <a:p>
        <a:r>
          <a:rPr lang="pt-PT"/>
          <a:t>Joana</a:t>
        </a:r>
      </a:p>
    </p188:txBody>
  </p188:cm>
</p188:cmLst>
</file>

<file path=ppt/comments/modernComment_122_15AE29C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ED23F24-D1A2-4EF1-9280-CBC822B799AA}" authorId="{7428F096-D553-E6CE-B306-86B301251544}" created="2025-11-20T21:17:21.141">
    <pc:sldMkLst xmlns:pc="http://schemas.microsoft.com/office/powerpoint/2013/main/command">
      <pc:docMk/>
      <pc:sldMk cId="363735489" sldId="290"/>
    </pc:sldMkLst>
    <p188:txBody>
      <a:bodyPr/>
      <a:lstStyle/>
      <a:p>
        <a:r>
          <a:rPr lang="pt-PT"/>
          <a:t>Filipa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D955AF9D-2975-5CB6-6B33-6BAA48E5AA2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3910A7DF-66EB-4E52-8DC0-D3574E3F04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2EDA6E-5C03-491B-B60A-B8449A72DEA6}" type="datetimeFigureOut">
              <a:rPr lang="pt-PT" smtClean="0"/>
              <a:t>23/11/2025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B2D831F0-435A-2D28-513B-8638200188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B03465C9-F381-EC60-CECD-B2D119E1C60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1BF746-B57C-4E6F-B64D-94055A7F73C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0046663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253CB2-A861-4AC3-8765-646D7CDEF396}" type="datetimeFigureOut">
              <a:rPr lang="pt-PT" smtClean="0"/>
              <a:t>23/11/2025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E57C0D-9D41-4356-A60F-CD73605C286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476480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14EE6-4E9B-9FB8-217C-B8D5412A4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CF48453C-9FB8-9B8B-A678-3E7975B020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4B9DD25B-0ED7-C963-86EC-D941913F1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lnSpc>
                <a:spcPct val="70000"/>
              </a:lnSpc>
              <a:spcBef>
                <a:spcPts val="1000"/>
              </a:spcBef>
              <a:buFont typeface="Arial"/>
              <a:buChar char="•"/>
            </a:pPr>
            <a:r>
              <a:rPr lang="pt-PT"/>
              <a:t>(we verified that there were 177 nulls in the 'Age' column, 687 in the 'Cabin' column, and 2 in 'Embark');</a:t>
            </a:r>
          </a:p>
          <a:p>
            <a:pPr marL="171450" indent="-171450">
              <a:lnSpc>
                <a:spcPct val="70000"/>
              </a:lnSpc>
              <a:spcBef>
                <a:spcPts val="1000"/>
              </a:spcBef>
              <a:buFont typeface="Arial"/>
              <a:buChar char="•"/>
            </a:pPr>
            <a:r>
              <a:rPr lang="pt-PT"/>
              <a:t>We deleted the 'Cabin' column;</a:t>
            </a:r>
          </a:p>
          <a:p>
            <a:pPr marL="171450" indent="-171450">
              <a:lnSpc>
                <a:spcPct val="70000"/>
              </a:lnSpc>
              <a:spcBef>
                <a:spcPts val="1000"/>
              </a:spcBef>
              <a:buFont typeface="Arial"/>
              <a:buChar char="•"/>
            </a:pPr>
            <a:r>
              <a:rPr lang="pt-PT"/>
              <a:t>We grouped by age and family, therefore creating new columns called 'AgeGroup' and 'FamilyCatSize';</a:t>
            </a:r>
          </a:p>
          <a:p>
            <a:pPr marL="171450" indent="-171450">
              <a:lnSpc>
                <a:spcPct val="70000"/>
              </a:lnSpc>
              <a:spcBef>
                <a:spcPts val="1000"/>
              </a:spcBef>
              <a:buFont typeface="Arial"/>
              <a:buChar char="•"/>
            </a:pPr>
            <a:r>
              <a:rPr lang="pt-PT"/>
              <a:t>We created the 'FamilySize' and 'Sex_bool' columns;</a:t>
            </a:r>
          </a:p>
          <a:p>
            <a:pPr marL="171450" indent="-1714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pt-PT"/>
              <a:t>We calculated the median age for women and men and changed values that had no information to the median value found;</a:t>
            </a:r>
          </a:p>
          <a:p>
            <a:pPr marL="171450" indent="-171450">
              <a:lnSpc>
                <a:spcPct val="70000"/>
              </a:lnSpc>
              <a:spcBef>
                <a:spcPts val="1000"/>
              </a:spcBef>
              <a:buFont typeface="Arial"/>
              <a:buChar char="•"/>
            </a:pPr>
            <a:endParaRPr lang="pt-PT">
              <a:latin typeface="Aptos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1F7021C-FB67-8B3D-3FE0-CB7A548B1F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E57C0D-9D41-4356-A60F-CD73605C2867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18139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887E4-431B-4940-8C27-F4417B9E66EC}" type="datetime1">
              <a:rPr lang="pt-PT" smtClean="0"/>
              <a:t>23/11/2025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28FB-DA81-4D2B-86DD-432ED2A29FD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52811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C2099-62F2-40BB-A972-4845B3905873}" type="datetime1">
              <a:rPr lang="pt-PT" smtClean="0"/>
              <a:t>23/11/2025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28FB-DA81-4D2B-86DD-432ED2A29FD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70096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FC1AB-25AF-4528-8FB9-87A1F26C05AE}" type="datetime1">
              <a:rPr lang="pt-PT" smtClean="0"/>
              <a:t>23/11/2025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28FB-DA81-4D2B-86DD-432ED2A29FD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01754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7D0E1-CF10-4655-A2A6-8A4073DF8296}" type="datetime1">
              <a:rPr lang="pt-PT" smtClean="0"/>
              <a:t>23/11/2025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28FB-DA81-4D2B-86DD-432ED2A29FD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43208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B69FD-04DA-496B-ACFB-CDE6FA5B4517}" type="datetime1">
              <a:rPr lang="pt-PT" smtClean="0"/>
              <a:t>23/11/2025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28FB-DA81-4D2B-86DD-432ED2A29FD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320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6E4A0-86C4-4950-876E-A1E03E7C328E}" type="datetime1">
              <a:rPr lang="pt-PT" smtClean="0"/>
              <a:t>23/11/2025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28FB-DA81-4D2B-86DD-432ED2A29FD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55630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8C231-39BF-4C8B-8E40-6D8056578EA2}" type="datetime1">
              <a:rPr lang="pt-PT" smtClean="0"/>
              <a:t>23/11/2025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28FB-DA81-4D2B-86DD-432ED2A29FD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0769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A45A1-D0E5-4A61-8800-29149D40B6DA}" type="datetime1">
              <a:rPr lang="pt-PT" smtClean="0"/>
              <a:t>23/11/2025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28FB-DA81-4D2B-86DD-432ED2A29FD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71549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26A75-D354-43BA-9813-D4C475D52B1C}" type="datetime1">
              <a:rPr lang="pt-PT" smtClean="0"/>
              <a:t>23/11/2025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28FB-DA81-4D2B-86DD-432ED2A29FD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96494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23431-D2D2-4ED1-99FE-3BB1D5C8FAB1}" type="datetime1">
              <a:rPr lang="pt-PT" smtClean="0"/>
              <a:t>23/11/2025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28FB-DA81-4D2B-86DD-432ED2A29FD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5035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F640C-5E9E-4634-8537-C6A1BC6BD3B9}" type="datetime1">
              <a:rPr lang="pt-PT" smtClean="0"/>
              <a:t>23/11/2025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28FB-DA81-4D2B-86DD-432ED2A29FD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08168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7BE0F7-B883-4F7B-BEEB-98836268B651}" type="datetime1">
              <a:rPr lang="pt-PT" smtClean="0"/>
              <a:t>23/11/2025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E628FB-DA81-4D2B-86DD-432ED2A29FD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03002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microsoft.com/office/2018/10/relationships/comments" Target="../comments/modernComment_101_17C2538F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2_15AE29C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8/10/relationships/comments" Target="../comments/modernComment_117_F86285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8/10/relationships/comments" Target="../comments/modernComment_10D_E7096B6B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8/10/relationships/comments" Target="../comments/modernComment_119_F918252B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8/10/relationships/comments" Target="../comments/modernComment_11A_95E12F10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microsoft.com/office/2018/10/relationships/comments" Target="../comments/modernComment_114_FFBC997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microsoft.com/office/2018/10/relationships/comments" Target="../comments/modernComment_11C_E3527EA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microsoft.com/office/2018/10/relationships/comments" Target="../comments/modernComment_11D_9892FC7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microsoft.com/office/2018/10/relationships/comments" Target="../comments/modernComment_11E_FD50C88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microsoft.com/office/2018/10/relationships/comments" Target="../comments/modernComment_11F_7FC05C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microsoft.com/office/2018/10/relationships/comments" Target="../comments/modernComment_116_F9EB27A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1_26F8E96C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2" Type="http://schemas.microsoft.com/office/2018/10/relationships/comments" Target="../comments/modernComment_120_6FA41D7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C59239F-2175-0281-A31D-8AD0F2C93C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208" y="857251"/>
            <a:ext cx="4747280" cy="3098061"/>
          </a:xfrm>
        </p:spPr>
        <p:txBody>
          <a:bodyPr anchor="b">
            <a:normAutofit/>
          </a:bodyPr>
          <a:lstStyle/>
          <a:p>
            <a:pPr algn="l"/>
            <a:r>
              <a:rPr lang="pt-PT" sz="4100">
                <a:solidFill>
                  <a:srgbClr val="FFFFFF"/>
                </a:solidFill>
                <a:latin typeface="Segoe UI Black"/>
                <a:ea typeface="Segoe UI Black"/>
              </a:rPr>
              <a:t>PYTHON – </a:t>
            </a:r>
            <a:br>
              <a:rPr lang="pt-PT" sz="4100"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lang="pt-PT" sz="4100">
                <a:solidFill>
                  <a:srgbClr val="FFFFFF"/>
                </a:solidFill>
                <a:latin typeface="Segoe UI Black"/>
                <a:ea typeface="Segoe UI Black"/>
              </a:rPr>
              <a:t>FINAL PROJECT</a:t>
            </a:r>
            <a:br>
              <a:rPr lang="pt-PT" sz="4100"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br>
              <a:rPr lang="pt-PT" sz="4100"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lang="pt-PT" sz="4800">
                <a:solidFill>
                  <a:srgbClr val="FFFFFF"/>
                </a:solidFill>
                <a:latin typeface="Segoe UI Black"/>
                <a:ea typeface="Segoe UI Black"/>
              </a:rPr>
              <a:t>TITANIC</a:t>
            </a:r>
            <a:endParaRPr lang="pt-PT" sz="41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ED4AB26-B7C5-8DFD-9625-205708F74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208" y="4767810"/>
            <a:ext cx="4739641" cy="1232938"/>
          </a:xfrm>
        </p:spPr>
        <p:txBody>
          <a:bodyPr anchor="t">
            <a:normAutofit fontScale="92500"/>
          </a:bodyPr>
          <a:lstStyle/>
          <a:p>
            <a:pPr algn="l"/>
            <a:r>
              <a:rPr lang="pt-PT" sz="2000">
                <a:solidFill>
                  <a:srgbClr val="FFFFFF"/>
                </a:solidFill>
                <a:latin typeface="Segoe UI Variable Text"/>
                <a:cs typeface="Segoe UI Variable Text"/>
              </a:rPr>
              <a:t>DATA ANALYST - TECHOF</a:t>
            </a:r>
          </a:p>
          <a:p>
            <a:pPr algn="l"/>
            <a:endParaRPr lang="pt-PT" sz="2000">
              <a:solidFill>
                <a:srgbClr val="FFFFFF"/>
              </a:solidFill>
              <a:latin typeface="Segoe UI Variable Text" pitchFamily="2" charset="0"/>
            </a:endParaRPr>
          </a:p>
          <a:p>
            <a:pPr algn="l"/>
            <a:r>
              <a:rPr lang="pt-PT" sz="2000">
                <a:solidFill>
                  <a:srgbClr val="FFFFFF"/>
                </a:solidFill>
                <a:latin typeface="Segoe UI Variable Text"/>
                <a:cs typeface="Segoe UI Variable Text"/>
              </a:rPr>
              <a:t>Filipa Tiago, Hugo Varela e Joana Correia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Uma imagem com transporte, navio, embarcação, desenho&#10;&#10;Os conteúdos gerados por IA podem estar incorretos.">
            <a:extLst>
              <a:ext uri="{FF2B5EF4-FFF2-40B4-BE49-F238E27FC236}">
                <a16:creationId xmlns:a16="http://schemas.microsoft.com/office/drawing/2014/main" id="{8002904D-BDB0-990B-1A90-7C1E459FE8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9000"/>
                    </a14:imgEffect>
                    <a14:imgEffect>
                      <a14:brightnessContrast bright="22000" contrast="2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" t="9091" r="48056"/>
          <a:stretch>
            <a:fillRect/>
          </a:stretch>
        </p:blipFill>
        <p:spPr>
          <a:xfrm>
            <a:off x="7283560" y="1703705"/>
            <a:ext cx="2955598" cy="3486886"/>
          </a:xfrm>
          <a:prstGeom prst="rect">
            <a:avLst/>
          </a:prstGeom>
        </p:spPr>
      </p:pic>
      <p:pic>
        <p:nvPicPr>
          <p:cNvPr id="9" name="Imagem 8" descr="Uma imagem com Tipo de letra, texto, logótipo, Gráficos&#10;&#10;Os conteúdos gerados por IA podem estar incorretos.">
            <a:extLst>
              <a:ext uri="{FF2B5EF4-FFF2-40B4-BE49-F238E27FC236}">
                <a16:creationId xmlns:a16="http://schemas.microsoft.com/office/drawing/2014/main" id="{34CAF828-28E3-E0AB-154A-D992C9C737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980" y="6296642"/>
            <a:ext cx="929858" cy="379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873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985CB6-DE64-E0F4-7BC6-2649E8F72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pt-PT" sz="4000">
                <a:solidFill>
                  <a:srgbClr val="FFFFFF"/>
                </a:solidFill>
                <a:latin typeface="Segoe UI Variable Text" pitchFamily="2" charset="0"/>
              </a:rPr>
              <a:t>INTRODUCTION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CCB02DB-6401-89B0-C71F-E3839FEEE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6613" y="1128254"/>
            <a:ext cx="5012538" cy="391272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pt-PT" sz="2400" b="1" err="1">
                <a:solidFill>
                  <a:schemeClr val="bg2">
                    <a:lumMod val="25000"/>
                  </a:schemeClr>
                </a:solidFill>
                <a:latin typeface="Segoe UI Variable Text"/>
                <a:ea typeface="+mn-lt"/>
                <a:cs typeface="Segoe UI Variable Text"/>
              </a:rPr>
              <a:t>Titanic</a:t>
            </a:r>
            <a:r>
              <a:rPr lang="pt-PT" sz="2400" b="1">
                <a:solidFill>
                  <a:schemeClr val="bg2">
                    <a:lumMod val="25000"/>
                  </a:schemeClr>
                </a:solidFill>
                <a:latin typeface="Segoe UI Variable Text"/>
                <a:ea typeface="+mn-lt"/>
                <a:cs typeface="Segoe UI Variable Text"/>
              </a:rPr>
              <a:t> </a:t>
            </a:r>
            <a:r>
              <a:rPr lang="pt-PT" sz="2400" b="1" err="1">
                <a:solidFill>
                  <a:schemeClr val="bg2">
                    <a:lumMod val="25000"/>
                  </a:schemeClr>
                </a:solidFill>
                <a:latin typeface="Segoe UI Variable Text"/>
                <a:ea typeface="+mn-lt"/>
                <a:cs typeface="Segoe UI Variable Text"/>
              </a:rPr>
              <a:t>Passengers</a:t>
            </a:r>
            <a:r>
              <a:rPr lang="pt-PT" sz="2400" b="1">
                <a:solidFill>
                  <a:schemeClr val="bg2">
                    <a:lumMod val="25000"/>
                  </a:schemeClr>
                </a:solidFill>
                <a:latin typeface="Segoe UI Variable Text"/>
                <a:ea typeface="+mn-lt"/>
                <a:cs typeface="Segoe UI Variable Text"/>
              </a:rPr>
              <a:t> Data:</a:t>
            </a:r>
            <a:endParaRPr lang="pt-BR" sz="2400" b="1">
              <a:solidFill>
                <a:schemeClr val="bg2">
                  <a:lumMod val="25000"/>
                </a:schemeClr>
              </a:solidFill>
              <a:latin typeface="Segoe UI Variable Text"/>
              <a:ea typeface="+mn-lt"/>
              <a:cs typeface="Segoe UI Variable Text"/>
            </a:endParaRPr>
          </a:p>
          <a:p>
            <a:pPr marL="285750" indent="-285750">
              <a:lnSpc>
                <a:spcPct val="150000"/>
              </a:lnSpc>
            </a:pPr>
            <a:r>
              <a:rPr lang="pt-PT" sz="1800" err="1">
                <a:solidFill>
                  <a:schemeClr val="bg2">
                    <a:lumMod val="25000"/>
                  </a:schemeClr>
                </a:solidFill>
                <a:latin typeface="Segoe UI Variable Text"/>
                <a:ea typeface="+mn-lt"/>
                <a:cs typeface="Segoe UI Variable Text"/>
              </a:rPr>
              <a:t>Name</a:t>
            </a:r>
            <a:r>
              <a:rPr lang="pt-PT" sz="1800">
                <a:solidFill>
                  <a:schemeClr val="bg2">
                    <a:lumMod val="25000"/>
                  </a:schemeClr>
                </a:solidFill>
                <a:latin typeface="Segoe UI Variable Text"/>
                <a:ea typeface="+mn-lt"/>
                <a:cs typeface="Segoe UI Variable Text"/>
              </a:rPr>
              <a:t>, Age, Gender</a:t>
            </a:r>
            <a:endParaRPr lang="pt-BR" sz="1800">
              <a:solidFill>
                <a:schemeClr val="bg2">
                  <a:lumMod val="25000"/>
                </a:schemeClr>
              </a:solidFill>
              <a:latin typeface="Segoe UI Variable Text"/>
              <a:ea typeface="+mn-lt"/>
              <a:cs typeface="Segoe UI Variable Text"/>
            </a:endParaRPr>
          </a:p>
          <a:p>
            <a:pPr marL="285750" indent="-285750">
              <a:lnSpc>
                <a:spcPct val="150000"/>
              </a:lnSpc>
            </a:pPr>
            <a:r>
              <a:rPr lang="pt-PT" sz="1800" err="1">
                <a:solidFill>
                  <a:schemeClr val="bg2">
                    <a:lumMod val="25000"/>
                  </a:schemeClr>
                </a:solidFill>
                <a:latin typeface="Segoe UI Variable Text"/>
                <a:ea typeface="+mn-lt"/>
                <a:cs typeface="Segoe UI Variable Text"/>
              </a:rPr>
              <a:t>Family</a:t>
            </a:r>
            <a:r>
              <a:rPr lang="pt-PT" sz="1800">
                <a:solidFill>
                  <a:schemeClr val="bg2">
                    <a:lumMod val="25000"/>
                  </a:schemeClr>
                </a:solidFill>
                <a:latin typeface="Segoe UI Variable Text"/>
                <a:ea typeface="+mn-lt"/>
                <a:cs typeface="Segoe UI Variable Text"/>
              </a:rPr>
              <a:t> </a:t>
            </a:r>
            <a:r>
              <a:rPr lang="pt-PT" sz="1800" err="1">
                <a:solidFill>
                  <a:schemeClr val="bg2">
                    <a:lumMod val="25000"/>
                  </a:schemeClr>
                </a:solidFill>
                <a:latin typeface="Segoe UI Variable Text"/>
                <a:ea typeface="+mn-lt"/>
                <a:cs typeface="Segoe UI Variable Text"/>
              </a:rPr>
              <a:t>on</a:t>
            </a:r>
            <a:r>
              <a:rPr lang="pt-PT" sz="1800">
                <a:solidFill>
                  <a:schemeClr val="bg2">
                    <a:lumMod val="25000"/>
                  </a:schemeClr>
                </a:solidFill>
                <a:latin typeface="Segoe UI Variable Text"/>
                <a:ea typeface="+mn-lt"/>
                <a:cs typeface="Segoe UI Variable Text"/>
              </a:rPr>
              <a:t> </a:t>
            </a:r>
            <a:r>
              <a:rPr lang="pt-PT" sz="1800" err="1">
                <a:solidFill>
                  <a:schemeClr val="bg2">
                    <a:lumMod val="25000"/>
                  </a:schemeClr>
                </a:solidFill>
                <a:latin typeface="Segoe UI Variable Text"/>
                <a:ea typeface="+mn-lt"/>
                <a:cs typeface="Segoe UI Variable Text"/>
              </a:rPr>
              <a:t>board</a:t>
            </a:r>
            <a:endParaRPr lang="pt-PT" sz="1800">
              <a:solidFill>
                <a:schemeClr val="bg2">
                  <a:lumMod val="25000"/>
                </a:schemeClr>
              </a:solidFill>
              <a:latin typeface="Segoe UI Variable Text"/>
              <a:ea typeface="+mn-lt"/>
              <a:cs typeface="Segoe UI Variable Text"/>
            </a:endParaRPr>
          </a:p>
          <a:p>
            <a:pPr marL="285750" indent="-285750">
              <a:lnSpc>
                <a:spcPct val="150000"/>
              </a:lnSpc>
            </a:pPr>
            <a:r>
              <a:rPr lang="pt-PT" sz="1800" err="1">
                <a:solidFill>
                  <a:schemeClr val="bg2">
                    <a:lumMod val="25000"/>
                  </a:schemeClr>
                </a:solidFill>
                <a:latin typeface="Segoe UI Variable Text"/>
                <a:ea typeface="+mn-lt"/>
                <a:cs typeface="Segoe UI Variable Text"/>
              </a:rPr>
              <a:t>Class</a:t>
            </a:r>
            <a:r>
              <a:rPr lang="pt-PT" sz="1800">
                <a:solidFill>
                  <a:schemeClr val="bg2">
                    <a:lumMod val="25000"/>
                  </a:schemeClr>
                </a:solidFill>
                <a:latin typeface="Segoe UI Variable Text"/>
                <a:ea typeface="+mn-lt"/>
                <a:cs typeface="Segoe UI Variable Text"/>
              </a:rPr>
              <a:t>, Ticket fare </a:t>
            </a:r>
            <a:r>
              <a:rPr lang="pt-PT" sz="1800" err="1">
                <a:solidFill>
                  <a:schemeClr val="bg2">
                    <a:lumMod val="25000"/>
                  </a:schemeClr>
                </a:solidFill>
                <a:latin typeface="Segoe UI Variable Text"/>
                <a:ea typeface="+mn-lt"/>
                <a:cs typeface="Segoe UI Variable Text"/>
              </a:rPr>
              <a:t>and</a:t>
            </a:r>
            <a:r>
              <a:rPr lang="pt-PT" sz="1800">
                <a:solidFill>
                  <a:schemeClr val="bg2">
                    <a:lumMod val="25000"/>
                  </a:schemeClr>
                </a:solidFill>
                <a:latin typeface="Segoe UI Variable Text"/>
                <a:ea typeface="+mn-lt"/>
                <a:cs typeface="Segoe UI Variable Text"/>
              </a:rPr>
              <a:t> </a:t>
            </a:r>
            <a:r>
              <a:rPr lang="pt-PT" sz="1800" err="1">
                <a:solidFill>
                  <a:schemeClr val="bg2">
                    <a:lumMod val="25000"/>
                  </a:schemeClr>
                </a:solidFill>
                <a:latin typeface="Segoe UI Variable Text"/>
                <a:ea typeface="+mn-lt"/>
                <a:cs typeface="Segoe UI Variable Text"/>
              </a:rPr>
              <a:t>number</a:t>
            </a:r>
            <a:endParaRPr lang="pt-BR" sz="1800" err="1">
              <a:solidFill>
                <a:schemeClr val="bg2">
                  <a:lumMod val="25000"/>
                </a:schemeClr>
              </a:solidFill>
              <a:latin typeface="Segoe UI Variable Text"/>
              <a:ea typeface="+mn-lt"/>
              <a:cs typeface="Segoe UI Variable Text"/>
            </a:endParaRPr>
          </a:p>
          <a:p>
            <a:pPr marL="285750" indent="-285750">
              <a:lnSpc>
                <a:spcPct val="150000"/>
              </a:lnSpc>
            </a:pPr>
            <a:r>
              <a:rPr lang="pt-PT" sz="1800">
                <a:solidFill>
                  <a:schemeClr val="bg2">
                    <a:lumMod val="25000"/>
                  </a:schemeClr>
                </a:solidFill>
                <a:latin typeface="Segoe UI Variable Text"/>
                <a:ea typeface="+mn-lt"/>
                <a:cs typeface="Segoe UI Variable Text"/>
              </a:rPr>
              <a:t>Local </a:t>
            </a:r>
            <a:r>
              <a:rPr lang="pt-PT" sz="1800" err="1">
                <a:solidFill>
                  <a:schemeClr val="bg2">
                    <a:lumMod val="25000"/>
                  </a:schemeClr>
                </a:solidFill>
                <a:latin typeface="Segoe UI Variable Text"/>
                <a:ea typeface="+mn-lt"/>
                <a:cs typeface="Segoe UI Variable Text"/>
              </a:rPr>
              <a:t>embarked</a:t>
            </a:r>
            <a:endParaRPr lang="pt-BR" sz="1800" err="1">
              <a:solidFill>
                <a:schemeClr val="bg2">
                  <a:lumMod val="25000"/>
                </a:schemeClr>
              </a:solidFill>
              <a:latin typeface="Aptos" panose="02110004020202020204"/>
              <a:ea typeface="+mn-lt"/>
              <a:cs typeface="Segoe UI Variable Text"/>
            </a:endParaRPr>
          </a:p>
          <a:p>
            <a:pPr marL="285750" indent="-285750">
              <a:lnSpc>
                <a:spcPct val="150000"/>
              </a:lnSpc>
            </a:pPr>
            <a:r>
              <a:rPr lang="pt-PT" sz="1800" err="1">
                <a:solidFill>
                  <a:schemeClr val="bg2">
                    <a:lumMod val="25000"/>
                  </a:schemeClr>
                </a:solidFill>
                <a:latin typeface="Segoe UI Variable Text"/>
                <a:ea typeface="+mn-lt"/>
                <a:cs typeface="Segoe UI Variable Text"/>
              </a:rPr>
              <a:t>Binary</a:t>
            </a:r>
            <a:r>
              <a:rPr lang="pt-PT" sz="1800">
                <a:solidFill>
                  <a:schemeClr val="bg2">
                    <a:lumMod val="25000"/>
                  </a:schemeClr>
                </a:solidFill>
                <a:latin typeface="Segoe UI Variable Text"/>
                <a:ea typeface="+mn-lt"/>
                <a:cs typeface="Segoe UI Variable Text"/>
              </a:rPr>
              <a:t> </a:t>
            </a:r>
            <a:r>
              <a:rPr lang="pt-PT" sz="1800" err="1">
                <a:solidFill>
                  <a:schemeClr val="bg2">
                    <a:lumMod val="25000"/>
                  </a:schemeClr>
                </a:solidFill>
                <a:latin typeface="Segoe UI Variable Text"/>
                <a:ea typeface="+mn-lt"/>
                <a:cs typeface="Segoe UI Variable Text"/>
              </a:rPr>
              <a:t>survival</a:t>
            </a:r>
            <a:r>
              <a:rPr lang="pt-PT" sz="1800">
                <a:solidFill>
                  <a:schemeClr val="bg2">
                    <a:lumMod val="25000"/>
                  </a:schemeClr>
                </a:solidFill>
                <a:latin typeface="Segoe UI Variable Text"/>
                <a:ea typeface="+mn-lt"/>
                <a:cs typeface="Segoe UI Variable Text"/>
              </a:rPr>
              <a:t> </a:t>
            </a:r>
            <a:r>
              <a:rPr lang="pt-PT" sz="1800" err="1">
                <a:solidFill>
                  <a:schemeClr val="bg2">
                    <a:lumMod val="25000"/>
                  </a:schemeClr>
                </a:solidFill>
                <a:latin typeface="Segoe UI Variable Text"/>
                <a:ea typeface="+mn-lt"/>
                <a:cs typeface="Segoe UI Variable Text"/>
              </a:rPr>
              <a:t>variable</a:t>
            </a:r>
            <a:r>
              <a:rPr lang="pt-PT" sz="1800">
                <a:solidFill>
                  <a:schemeClr val="bg2">
                    <a:lumMod val="25000"/>
                  </a:schemeClr>
                </a:solidFill>
                <a:latin typeface="Segoe UI Variable Text"/>
                <a:ea typeface="+mn-lt"/>
                <a:cs typeface="Segoe UI Variable Text"/>
              </a:rPr>
              <a:t> </a:t>
            </a:r>
            <a:endParaRPr lang="pt-BR" sz="1800">
              <a:solidFill>
                <a:schemeClr val="bg2">
                  <a:lumMod val="25000"/>
                </a:schemeClr>
              </a:solidFill>
              <a:latin typeface="Aptos" panose="02110004020202020204"/>
              <a:ea typeface="+mn-lt"/>
              <a:cs typeface="Segoe UI Variable Text"/>
            </a:endParaRPr>
          </a:p>
          <a:p>
            <a:pPr marL="742950" lvl="1" indent="-28575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pt-PT" sz="1400">
                <a:solidFill>
                  <a:schemeClr val="bg2">
                    <a:lumMod val="25000"/>
                  </a:schemeClr>
                </a:solidFill>
                <a:latin typeface="Segoe UI Variable Text"/>
                <a:ea typeface="+mn-lt"/>
                <a:cs typeface="Segoe UI Variable Text"/>
              </a:rPr>
              <a:t>(0 – </a:t>
            </a:r>
            <a:r>
              <a:rPr lang="pt-PT" sz="1400" err="1">
                <a:solidFill>
                  <a:schemeClr val="bg2">
                    <a:lumMod val="25000"/>
                  </a:schemeClr>
                </a:solidFill>
                <a:latin typeface="Segoe UI Variable Text"/>
                <a:ea typeface="+mn-lt"/>
                <a:cs typeface="Segoe UI Variable Text"/>
              </a:rPr>
              <a:t>if</a:t>
            </a:r>
            <a:r>
              <a:rPr lang="pt-PT" sz="1400">
                <a:solidFill>
                  <a:schemeClr val="bg2">
                    <a:lumMod val="25000"/>
                  </a:schemeClr>
                </a:solidFill>
                <a:latin typeface="Segoe UI Variable Text"/>
                <a:ea typeface="+mn-lt"/>
                <a:cs typeface="Segoe UI Variable Text"/>
              </a:rPr>
              <a:t> </a:t>
            </a:r>
            <a:r>
              <a:rPr lang="pt-PT" sz="1400" err="1">
                <a:solidFill>
                  <a:schemeClr val="bg2">
                    <a:lumMod val="25000"/>
                  </a:schemeClr>
                </a:solidFill>
                <a:latin typeface="Segoe UI Variable Text"/>
                <a:ea typeface="+mn-lt"/>
                <a:cs typeface="Segoe UI Variable Text"/>
              </a:rPr>
              <a:t>not</a:t>
            </a:r>
            <a:r>
              <a:rPr lang="pt-PT" sz="1400">
                <a:solidFill>
                  <a:schemeClr val="bg2">
                    <a:lumMod val="25000"/>
                  </a:schemeClr>
                </a:solidFill>
                <a:latin typeface="Segoe UI Variable Text"/>
                <a:ea typeface="+mn-lt"/>
                <a:cs typeface="Segoe UI Variable Text"/>
              </a:rPr>
              <a:t> </a:t>
            </a:r>
            <a:r>
              <a:rPr lang="pt-PT" sz="1400" err="1">
                <a:solidFill>
                  <a:schemeClr val="bg2">
                    <a:lumMod val="25000"/>
                  </a:schemeClr>
                </a:solidFill>
                <a:latin typeface="Segoe UI Variable Text"/>
                <a:ea typeface="+mn-lt"/>
                <a:cs typeface="Segoe UI Variable Text"/>
              </a:rPr>
              <a:t>survived</a:t>
            </a:r>
            <a:r>
              <a:rPr lang="pt-PT" sz="1400">
                <a:solidFill>
                  <a:schemeClr val="bg2">
                    <a:lumMod val="25000"/>
                  </a:schemeClr>
                </a:solidFill>
                <a:latin typeface="Segoe UI Variable Text"/>
                <a:ea typeface="+mn-lt"/>
                <a:cs typeface="Segoe UI Variable Text"/>
              </a:rPr>
              <a:t>; 1 – </a:t>
            </a:r>
            <a:r>
              <a:rPr lang="pt-PT" sz="1400" err="1">
                <a:solidFill>
                  <a:schemeClr val="bg2">
                    <a:lumMod val="25000"/>
                  </a:schemeClr>
                </a:solidFill>
                <a:latin typeface="Segoe UI Variable Text"/>
                <a:ea typeface="+mn-lt"/>
                <a:cs typeface="Segoe UI Variable Text"/>
              </a:rPr>
              <a:t>if</a:t>
            </a:r>
            <a:r>
              <a:rPr lang="pt-PT" sz="1400">
                <a:solidFill>
                  <a:schemeClr val="bg2">
                    <a:lumMod val="25000"/>
                  </a:schemeClr>
                </a:solidFill>
                <a:latin typeface="Segoe UI Variable Text"/>
                <a:ea typeface="+mn-lt"/>
                <a:cs typeface="Segoe UI Variable Text"/>
              </a:rPr>
              <a:t> </a:t>
            </a:r>
            <a:r>
              <a:rPr lang="pt-PT" sz="1400" err="1">
                <a:solidFill>
                  <a:schemeClr val="bg2">
                    <a:lumMod val="25000"/>
                  </a:schemeClr>
                </a:solidFill>
                <a:latin typeface="Segoe UI Variable Text"/>
                <a:ea typeface="+mn-lt"/>
                <a:cs typeface="Segoe UI Variable Text"/>
              </a:rPr>
              <a:t>survived</a:t>
            </a:r>
            <a:r>
              <a:rPr lang="pt-PT" sz="1400">
                <a:solidFill>
                  <a:schemeClr val="bg2">
                    <a:lumMod val="25000"/>
                  </a:schemeClr>
                </a:solidFill>
                <a:latin typeface="Segoe UI Variable Text"/>
                <a:ea typeface="+mn-lt"/>
                <a:cs typeface="Segoe UI Variable Text"/>
              </a:rPr>
              <a:t>)</a:t>
            </a:r>
            <a:endParaRPr lang="pt-BR" sz="1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0FBD28A-7091-DBDE-3D6C-69954771F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9E628FB-DA81-4D2B-86DD-432ED2A29FDE}" type="slidenum">
              <a:rPr lang="pt-PT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pt-PT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030323C-4292-F587-538D-64F183727D9C}"/>
              </a:ext>
            </a:extLst>
          </p:cNvPr>
          <p:cNvSpPr txBox="1"/>
          <p:nvPr/>
        </p:nvSpPr>
        <p:spPr>
          <a:xfrm>
            <a:off x="6096000" y="5195455"/>
            <a:ext cx="2493820" cy="12872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pt-PT" b="1" err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DataFrame</a:t>
            </a:r>
            <a:r>
              <a:rPr lang="pt-PT" b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:</a:t>
            </a:r>
            <a:endParaRPr lang="pt-BR" b="1">
              <a:solidFill>
                <a:schemeClr val="bg2">
                  <a:lumMod val="25000"/>
                </a:schemeClr>
              </a:solidFill>
              <a:latin typeface="Segoe UI Variable Text"/>
              <a:cs typeface="Segoe UI Variable Text"/>
            </a:endParaRPr>
          </a:p>
          <a:p>
            <a:pPr marL="742950" lvl="1">
              <a:lnSpc>
                <a:spcPct val="150000"/>
              </a:lnSpc>
              <a:buFont typeface="Courier New"/>
              <a:buChar char="o"/>
            </a:pPr>
            <a:r>
              <a:rPr lang="pt-PT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 891</a:t>
            </a:r>
            <a:r>
              <a:rPr lang="pt-PT" baseline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 records</a:t>
            </a:r>
            <a:endParaRPr lang="pt-BR">
              <a:solidFill>
                <a:schemeClr val="bg2">
                  <a:lumMod val="25000"/>
                </a:schemeClr>
              </a:solidFill>
              <a:latin typeface="Segoe UI Variable Text"/>
              <a:cs typeface="Segoe UI Variable Text"/>
            </a:endParaRPr>
          </a:p>
          <a:p>
            <a:pPr marL="742950" lvl="1">
              <a:lnSpc>
                <a:spcPct val="150000"/>
              </a:lnSpc>
              <a:buFont typeface="Courier New"/>
              <a:buChar char="o"/>
            </a:pPr>
            <a:r>
              <a:rPr lang="pt-PT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 </a:t>
            </a:r>
            <a:r>
              <a:rPr lang="pt-PT" baseline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12 </a:t>
            </a:r>
            <a:r>
              <a:rPr lang="pt-PT" baseline="0" err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columns</a:t>
            </a:r>
            <a:endParaRPr lang="pt-BR" err="1">
              <a:solidFill>
                <a:schemeClr val="bg2">
                  <a:lumMod val="25000"/>
                </a:schemeClr>
              </a:solidFill>
              <a:latin typeface="Segoe UI Variable Text"/>
              <a:cs typeface="Segoe UI Variable Text"/>
            </a:endParaRPr>
          </a:p>
        </p:txBody>
      </p:sp>
      <p:pic>
        <p:nvPicPr>
          <p:cNvPr id="7" name="Imagem 6" descr="1741467.jpg (1000×1000)">
            <a:extLst>
              <a:ext uri="{FF2B5EF4-FFF2-40B4-BE49-F238E27FC236}">
                <a16:creationId xmlns:a16="http://schemas.microsoft.com/office/drawing/2014/main" id="{6C388E37-2E1E-D30E-6499-F3DE15C7E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2763" y="233218"/>
            <a:ext cx="1022928" cy="1011383"/>
          </a:xfrm>
          <a:prstGeom prst="rect">
            <a:avLst/>
          </a:prstGeom>
          <a:ln>
            <a:noFill/>
          </a:ln>
        </p:spPr>
      </p:pic>
      <p:pic>
        <p:nvPicPr>
          <p:cNvPr id="8" name="Imagem 7" descr="logo.png (800×800)">
            <a:extLst>
              <a:ext uri="{FF2B5EF4-FFF2-40B4-BE49-F238E27FC236}">
                <a16:creationId xmlns:a16="http://schemas.microsoft.com/office/drawing/2014/main" id="{6AB0389D-FDF6-3EDE-1A8D-E439D3799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1775" y="336406"/>
            <a:ext cx="735448" cy="79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1134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EAB073-1B5C-E207-DAF8-687FFA35E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26">
            <a:extLst>
              <a:ext uri="{FF2B5EF4-FFF2-40B4-BE49-F238E27FC236}">
                <a16:creationId xmlns:a16="http://schemas.microsoft.com/office/drawing/2014/main" id="{1E6D5630-BDD0-C6A5-BE26-01E54AB26D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28">
            <a:extLst>
              <a:ext uri="{FF2B5EF4-FFF2-40B4-BE49-F238E27FC236}">
                <a16:creationId xmlns:a16="http://schemas.microsoft.com/office/drawing/2014/main" id="{4E0175E3-1607-A7D6-ED54-82FC0627B0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30">
            <a:extLst>
              <a:ext uri="{FF2B5EF4-FFF2-40B4-BE49-F238E27FC236}">
                <a16:creationId xmlns:a16="http://schemas.microsoft.com/office/drawing/2014/main" id="{23BE2339-A3BE-3344-8622-8951B4818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32">
            <a:extLst>
              <a:ext uri="{FF2B5EF4-FFF2-40B4-BE49-F238E27FC236}">
                <a16:creationId xmlns:a16="http://schemas.microsoft.com/office/drawing/2014/main" id="{D5548027-85CC-812B-A6A8-2316FE1724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reeform: Shape 34">
            <a:extLst>
              <a:ext uri="{FF2B5EF4-FFF2-40B4-BE49-F238E27FC236}">
                <a16:creationId xmlns:a16="http://schemas.microsoft.com/office/drawing/2014/main" id="{93A33295-BB5B-48A6-83FB-F111FCC82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1" name="Rectangle 36">
            <a:extLst>
              <a:ext uri="{FF2B5EF4-FFF2-40B4-BE49-F238E27FC236}">
                <a16:creationId xmlns:a16="http://schemas.microsoft.com/office/drawing/2014/main" id="{82A6CEAB-8952-01B8-2A5F-D6E3FC2DE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7A5CAE-3AFD-D23B-0817-C80FEC1FB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pt-PT" sz="4000">
                <a:solidFill>
                  <a:srgbClr val="FFFFFF"/>
                </a:solidFill>
                <a:latin typeface="Segoe UI Variable Text" pitchFamily="2" charset="0"/>
              </a:rPr>
              <a:t>DATA TREATMENT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92B66EF-3841-BF75-B1E9-7660DACE9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9E628FB-DA81-4D2B-86DD-432ED2A29FDE}" type="slidenum">
              <a:rPr lang="pt-PT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pt-PT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F2E164B6-8F73-87F2-D78E-0C9526E682FF}"/>
              </a:ext>
            </a:extLst>
          </p:cNvPr>
          <p:cNvSpPr txBox="1"/>
          <p:nvPr/>
        </p:nvSpPr>
        <p:spPr>
          <a:xfrm>
            <a:off x="4608079" y="279976"/>
            <a:ext cx="6245003" cy="61665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b="1" err="1">
                <a:solidFill>
                  <a:schemeClr val="tx2"/>
                </a:solidFill>
                <a:latin typeface="Segoe UI Variable Text"/>
                <a:cs typeface="Segoe UI Variable Text"/>
              </a:rPr>
              <a:t>Check</a:t>
            </a:r>
            <a:r>
              <a:rPr lang="pt-BR" b="1">
                <a:solidFill>
                  <a:schemeClr val="tx2"/>
                </a:solidFill>
                <a:latin typeface="Segoe UI Variable Text"/>
                <a:cs typeface="Segoe UI Variable Text"/>
              </a:rPr>
              <a:t> for </a:t>
            </a:r>
            <a:r>
              <a:rPr lang="pt-BR" b="1" err="1">
                <a:solidFill>
                  <a:schemeClr val="tx2"/>
                </a:solidFill>
                <a:latin typeface="Segoe UI Variable Text"/>
                <a:cs typeface="Segoe UI Variable Text"/>
              </a:rPr>
              <a:t>null</a:t>
            </a:r>
            <a:r>
              <a:rPr lang="pt-BR" b="1">
                <a:solidFill>
                  <a:schemeClr val="tx2"/>
                </a:solidFill>
                <a:latin typeface="Segoe UI Variable Text"/>
                <a:cs typeface="Segoe UI Variable Text"/>
              </a:rPr>
              <a:t> </a:t>
            </a:r>
            <a:r>
              <a:rPr lang="pt-BR" b="1" err="1">
                <a:solidFill>
                  <a:schemeClr val="tx2"/>
                </a:solidFill>
                <a:latin typeface="Segoe UI Variable Text"/>
                <a:cs typeface="Segoe UI Variable Text"/>
              </a:rPr>
              <a:t>values</a:t>
            </a:r>
            <a:endParaRPr lang="pt-BR" b="1">
              <a:solidFill>
                <a:schemeClr val="tx2"/>
              </a:solidFill>
              <a:latin typeface="Segoe UI Variable Text"/>
              <a:cs typeface="Segoe UI Variable Text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b="1">
                <a:solidFill>
                  <a:schemeClr val="tx2"/>
                </a:solidFill>
                <a:latin typeface="Segoe UI Variable Text"/>
                <a:cs typeface="Segoe UI Variable Text"/>
              </a:rPr>
              <a:t>Index: </a:t>
            </a:r>
            <a:r>
              <a:rPr lang="pt-BR" b="1" i="1" err="1">
                <a:solidFill>
                  <a:schemeClr val="tx2"/>
                </a:solidFill>
                <a:latin typeface="Segoe UI Variable Text"/>
                <a:cs typeface="Segoe UI Variable Text"/>
              </a:rPr>
              <a:t>PassengerID</a:t>
            </a:r>
            <a:endParaRPr lang="pt-BR" b="1" i="1">
              <a:solidFill>
                <a:schemeClr val="tx2"/>
              </a:solidFill>
              <a:latin typeface="Segoe UI Variable Text"/>
              <a:cs typeface="Segoe UI Variable Text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b="1">
                <a:solidFill>
                  <a:schemeClr val="tx2"/>
                </a:solidFill>
                <a:latin typeface="Segoe UI Variable Text"/>
                <a:cs typeface="Segoe UI Variable Text"/>
              </a:rPr>
              <a:t>Delete </a:t>
            </a:r>
            <a:r>
              <a:rPr lang="pt-BR" b="1" err="1">
                <a:solidFill>
                  <a:schemeClr val="tx2"/>
                </a:solidFill>
                <a:latin typeface="Segoe UI Variable Text"/>
                <a:cs typeface="Segoe UI Variable Text"/>
              </a:rPr>
              <a:t>columns</a:t>
            </a:r>
            <a:r>
              <a:rPr lang="pt-BR" b="1">
                <a:solidFill>
                  <a:schemeClr val="tx2"/>
                </a:solidFill>
                <a:latin typeface="Segoe UI Variable Text"/>
                <a:cs typeface="Segoe UI Variable Text"/>
              </a:rPr>
              <a:t>: </a:t>
            </a:r>
            <a:r>
              <a:rPr lang="pt-BR" b="1" i="1" err="1">
                <a:solidFill>
                  <a:schemeClr val="tx2"/>
                </a:solidFill>
                <a:latin typeface="Segoe UI Variable Text"/>
                <a:cs typeface="Segoe UI Variable Text"/>
              </a:rPr>
              <a:t>Cabin</a:t>
            </a:r>
            <a:endParaRPr lang="pt-BR" b="1" i="1">
              <a:solidFill>
                <a:schemeClr val="tx2"/>
              </a:solidFill>
              <a:latin typeface="Segoe UI Variable Text"/>
              <a:cs typeface="Segoe UI Variable Text"/>
            </a:endParaRPr>
          </a:p>
          <a:p>
            <a:pPr marL="800100" lvl="1" indent="-342900">
              <a:buFont typeface="Courier New"/>
              <a:buChar char="o"/>
            </a:pPr>
            <a:r>
              <a:rPr lang="pt-BR" sz="1600">
                <a:latin typeface="Segoe UI Variable Text"/>
                <a:cs typeface="Segoe UI Variable Text"/>
              </a:rPr>
              <a:t>687 </a:t>
            </a:r>
            <a:r>
              <a:rPr lang="pt-BR" sz="1600" err="1">
                <a:latin typeface="Segoe UI Variable Text"/>
                <a:cs typeface="Segoe UI Variable Text"/>
              </a:rPr>
              <a:t>null</a:t>
            </a:r>
            <a:r>
              <a:rPr lang="pt-BR" sz="1600">
                <a:latin typeface="Segoe UI Variable Text"/>
                <a:cs typeface="Segoe UI Variable Text"/>
              </a:rPr>
              <a:t> </a:t>
            </a:r>
            <a:r>
              <a:rPr lang="pt-BR" sz="1600" err="1">
                <a:latin typeface="Segoe UI Variable Text"/>
                <a:cs typeface="Segoe UI Variable Text"/>
              </a:rPr>
              <a:t>values</a:t>
            </a:r>
            <a:endParaRPr lang="pt-BR" sz="1600">
              <a:latin typeface="Segoe UI Variable Text"/>
              <a:cs typeface="Segoe UI Variable Text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b="1" err="1">
                <a:solidFill>
                  <a:schemeClr val="tx2"/>
                </a:solidFill>
                <a:latin typeface="Segoe UI Variable Text"/>
                <a:cs typeface="Segoe UI Variable Text"/>
              </a:rPr>
              <a:t>Null</a:t>
            </a:r>
            <a:r>
              <a:rPr lang="pt-BR" b="1">
                <a:solidFill>
                  <a:schemeClr val="tx2"/>
                </a:solidFill>
                <a:latin typeface="Segoe UI Variable Text"/>
                <a:cs typeface="Segoe UI Variable Text"/>
              </a:rPr>
              <a:t> </a:t>
            </a:r>
            <a:r>
              <a:rPr lang="pt-BR" b="1" err="1">
                <a:solidFill>
                  <a:schemeClr val="tx2"/>
                </a:solidFill>
                <a:latin typeface="Segoe UI Variable Text"/>
                <a:cs typeface="Segoe UI Variable Text"/>
              </a:rPr>
              <a:t>values</a:t>
            </a:r>
            <a:r>
              <a:rPr lang="pt-BR" b="1">
                <a:solidFill>
                  <a:schemeClr val="tx2"/>
                </a:solidFill>
                <a:latin typeface="Segoe UI Variable Text"/>
                <a:cs typeface="Segoe UI Variable Text"/>
              </a:rPr>
              <a:t> in </a:t>
            </a:r>
            <a:r>
              <a:rPr lang="pt-BR" b="1" err="1">
                <a:solidFill>
                  <a:schemeClr val="tx2"/>
                </a:solidFill>
                <a:latin typeface="Segoe UI Variable Text"/>
                <a:cs typeface="Segoe UI Variable Text"/>
              </a:rPr>
              <a:t>column</a:t>
            </a:r>
            <a:r>
              <a:rPr lang="pt-BR" b="1">
                <a:solidFill>
                  <a:schemeClr val="tx2"/>
                </a:solidFill>
                <a:latin typeface="Segoe UI Variable Text"/>
                <a:cs typeface="Segoe UI Variable Text"/>
              </a:rPr>
              <a:t> </a:t>
            </a:r>
            <a:r>
              <a:rPr lang="pt-BR" b="1" i="1">
                <a:solidFill>
                  <a:schemeClr val="tx2"/>
                </a:solidFill>
                <a:latin typeface="Segoe UI Variable Text"/>
                <a:cs typeface="Segoe UI Variable Text"/>
              </a:rPr>
              <a:t>Age</a:t>
            </a:r>
            <a:r>
              <a:rPr lang="pt-BR" b="1">
                <a:solidFill>
                  <a:schemeClr val="tx2"/>
                </a:solidFill>
                <a:latin typeface="Segoe UI Variable Text"/>
                <a:cs typeface="Segoe UI Variable Text"/>
              </a:rPr>
              <a:t>:</a:t>
            </a:r>
          </a:p>
          <a:p>
            <a:pPr marL="800100" lvl="1" indent="-342900">
              <a:buFont typeface="Courier New"/>
              <a:buChar char="o"/>
            </a:pPr>
            <a:r>
              <a:rPr lang="pt-BR" sz="1600" err="1">
                <a:latin typeface="Segoe UI Variable Text"/>
                <a:cs typeface="Segoe UI Variable Text"/>
              </a:rPr>
              <a:t>Replaced</a:t>
            </a:r>
            <a:r>
              <a:rPr lang="pt-BR" sz="1600">
                <a:latin typeface="Segoe UI Variable Text"/>
                <a:cs typeface="Segoe UI Variable Text"/>
              </a:rPr>
              <a:t> </a:t>
            </a:r>
            <a:r>
              <a:rPr lang="pt-BR" sz="1600" err="1">
                <a:latin typeface="Segoe UI Variable Text"/>
                <a:cs typeface="Segoe UI Variable Text"/>
              </a:rPr>
              <a:t>with</a:t>
            </a:r>
            <a:r>
              <a:rPr lang="pt-BR" sz="1600">
                <a:latin typeface="Segoe UI Variable Text"/>
                <a:cs typeface="Segoe UI Variable Text"/>
              </a:rPr>
              <a:t> </a:t>
            </a:r>
            <a:r>
              <a:rPr lang="pt-BR" sz="1600" err="1">
                <a:latin typeface="Segoe UI Variable Text"/>
                <a:cs typeface="Segoe UI Variable Text"/>
              </a:rPr>
              <a:t>median</a:t>
            </a:r>
            <a:r>
              <a:rPr lang="pt-BR" sz="1600">
                <a:latin typeface="Segoe UI Variable Text"/>
                <a:cs typeface="Segoe UI Variable Text"/>
              </a:rPr>
              <a:t> </a:t>
            </a:r>
            <a:r>
              <a:rPr lang="pt-BR" sz="1600" err="1">
                <a:latin typeface="Segoe UI Variable Text"/>
                <a:cs typeface="Segoe UI Variable Text"/>
              </a:rPr>
              <a:t>values</a:t>
            </a:r>
            <a:r>
              <a:rPr lang="pt-BR" sz="1600">
                <a:latin typeface="Segoe UI Variable Text"/>
                <a:cs typeface="Segoe UI Variable Text"/>
              </a:rPr>
              <a:t> for </a:t>
            </a:r>
            <a:r>
              <a:rPr lang="pt-BR" sz="1600" err="1">
                <a:latin typeface="Segoe UI Variable Text"/>
                <a:cs typeface="Segoe UI Variable Text"/>
              </a:rPr>
              <a:t>men</a:t>
            </a:r>
            <a:r>
              <a:rPr lang="pt-BR" sz="1600">
                <a:latin typeface="Segoe UI Variable Text"/>
                <a:cs typeface="Segoe UI Variable Text"/>
              </a:rPr>
              <a:t> (29) </a:t>
            </a:r>
            <a:r>
              <a:rPr lang="pt-BR" sz="1600" err="1">
                <a:latin typeface="Segoe UI Variable Text"/>
                <a:cs typeface="Segoe UI Variable Text"/>
              </a:rPr>
              <a:t>and</a:t>
            </a:r>
            <a:r>
              <a:rPr lang="pt-BR" sz="1600">
                <a:latin typeface="Segoe UI Variable Text"/>
                <a:cs typeface="Segoe UI Variable Text"/>
              </a:rPr>
              <a:t> </a:t>
            </a:r>
            <a:r>
              <a:rPr lang="pt-BR" sz="1600" err="1">
                <a:latin typeface="Segoe UI Variable Text"/>
                <a:cs typeface="Segoe UI Variable Text"/>
              </a:rPr>
              <a:t>women</a:t>
            </a:r>
            <a:r>
              <a:rPr lang="pt-BR" sz="1600">
                <a:latin typeface="Segoe UI Variable Text"/>
                <a:cs typeface="Segoe UI Variable Text"/>
              </a:rPr>
              <a:t> (27)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b="1" err="1">
                <a:solidFill>
                  <a:schemeClr val="tx2"/>
                </a:solidFill>
                <a:latin typeface="Segoe UI Variable Text"/>
                <a:cs typeface="Segoe UI Variable Text"/>
              </a:rPr>
              <a:t>Add</a:t>
            </a:r>
            <a:r>
              <a:rPr lang="pt-BR" b="1">
                <a:solidFill>
                  <a:schemeClr val="tx2"/>
                </a:solidFill>
                <a:latin typeface="Segoe UI Variable Text"/>
                <a:cs typeface="Segoe UI Variable Text"/>
              </a:rPr>
              <a:t> new </a:t>
            </a:r>
            <a:r>
              <a:rPr lang="pt-BR" b="1" err="1">
                <a:solidFill>
                  <a:schemeClr val="tx2"/>
                </a:solidFill>
                <a:latin typeface="Segoe UI Variable Text"/>
                <a:cs typeface="Segoe UI Variable Text"/>
              </a:rPr>
              <a:t>columns</a:t>
            </a:r>
            <a:r>
              <a:rPr lang="pt-BR" b="1">
                <a:solidFill>
                  <a:schemeClr val="tx2"/>
                </a:solidFill>
                <a:latin typeface="Segoe UI Variable Text"/>
                <a:cs typeface="Segoe UI Variable Text"/>
              </a:rPr>
              <a:t>:</a:t>
            </a:r>
          </a:p>
          <a:p>
            <a:pPr marL="800100" lvl="1" indent="-342900">
              <a:buFont typeface="Courier New"/>
              <a:buChar char="o"/>
            </a:pPr>
            <a:r>
              <a:rPr lang="pt-BR" sz="1600">
                <a:latin typeface="Segoe UI Variable Text"/>
                <a:cs typeface="Segoe UI Variable Text"/>
              </a:rPr>
              <a:t>Sex </a:t>
            </a:r>
            <a:r>
              <a:rPr lang="pt-BR" sz="1600" err="1">
                <a:latin typeface="Segoe UI Variable Text"/>
                <a:cs typeface="Segoe UI Variable Text"/>
              </a:rPr>
              <a:t>boolean</a:t>
            </a:r>
            <a:endParaRPr lang="pt-BR" sz="1600">
              <a:latin typeface="Segoe UI Variable Text"/>
              <a:cs typeface="Segoe UI Variable Text"/>
            </a:endParaRPr>
          </a:p>
          <a:p>
            <a:pPr marL="1200150" lvl="2" indent="-285750">
              <a:buFont typeface="Arial"/>
              <a:buChar char="•"/>
            </a:pPr>
            <a:r>
              <a:rPr lang="pt-BR" sz="140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Text"/>
                <a:cs typeface="Segoe UI Variable Text"/>
              </a:rPr>
              <a:t>0 – </a:t>
            </a:r>
            <a:r>
              <a:rPr lang="pt-BR" sz="1400" err="1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Text"/>
                <a:cs typeface="Segoe UI Variable Text"/>
              </a:rPr>
              <a:t>Female</a:t>
            </a:r>
            <a:r>
              <a:rPr lang="pt-BR" sz="140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Text"/>
                <a:cs typeface="Segoe UI Variable Text"/>
              </a:rPr>
              <a:t>, 1 – Male</a:t>
            </a:r>
          </a:p>
          <a:p>
            <a:pPr marL="800100" lvl="1" indent="-342900">
              <a:lnSpc>
                <a:spcPct val="150000"/>
              </a:lnSpc>
              <a:buFont typeface="Courier New"/>
              <a:buChar char="o"/>
            </a:pPr>
            <a:r>
              <a:rPr lang="pt-BR" sz="1600">
                <a:latin typeface="Segoe UI Variable Text"/>
                <a:cs typeface="Segoe UI Variable Text"/>
              </a:rPr>
              <a:t>Family </a:t>
            </a:r>
            <a:r>
              <a:rPr lang="pt-BR" sz="1600" err="1">
                <a:latin typeface="Segoe UI Variable Text"/>
                <a:cs typeface="Segoe UI Variable Text"/>
              </a:rPr>
              <a:t>size</a:t>
            </a:r>
            <a:endParaRPr lang="pt-BR" sz="1600">
              <a:latin typeface="Segoe UI Variable Text"/>
              <a:cs typeface="Segoe UI Variable Text"/>
            </a:endParaRPr>
          </a:p>
          <a:p>
            <a:pPr marL="1257300" lvl="2" indent="-342900">
              <a:buFont typeface="Arial"/>
              <a:buChar char="•"/>
            </a:pPr>
            <a:r>
              <a:rPr lang="pt-BR" sz="140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Text"/>
                <a:cs typeface="Segoe UI Variable Text"/>
              </a:rPr>
              <a:t>Sum </a:t>
            </a:r>
            <a:r>
              <a:rPr lang="pt-BR" sz="1400" err="1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Text"/>
                <a:cs typeface="Segoe UI Variable Text"/>
              </a:rPr>
              <a:t>of</a:t>
            </a:r>
            <a:r>
              <a:rPr lang="pt-BR" sz="140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Text"/>
                <a:cs typeface="Segoe UI Variable Text"/>
              </a:rPr>
              <a:t> siblings, </a:t>
            </a:r>
            <a:r>
              <a:rPr lang="pt-BR" sz="1400" err="1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Text"/>
                <a:cs typeface="Segoe UI Variable Text"/>
              </a:rPr>
              <a:t>parents</a:t>
            </a:r>
            <a:r>
              <a:rPr lang="pt-BR" sz="140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Text"/>
                <a:cs typeface="Segoe UI Variable Text"/>
              </a:rPr>
              <a:t>, </a:t>
            </a:r>
            <a:r>
              <a:rPr lang="pt-BR" sz="1400" err="1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Text"/>
                <a:cs typeface="Segoe UI Variable Text"/>
              </a:rPr>
              <a:t>children</a:t>
            </a:r>
            <a:r>
              <a:rPr lang="pt-BR" sz="140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Text"/>
                <a:cs typeface="Segoe UI Variable Text"/>
              </a:rPr>
              <a:t> </a:t>
            </a:r>
            <a:r>
              <a:rPr lang="pt-BR" sz="1400" err="1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Text"/>
                <a:cs typeface="Segoe UI Variable Text"/>
              </a:rPr>
              <a:t>and</a:t>
            </a:r>
            <a:r>
              <a:rPr lang="pt-BR" sz="140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Text"/>
                <a:cs typeface="Segoe UI Variable Text"/>
              </a:rPr>
              <a:t> </a:t>
            </a:r>
            <a:r>
              <a:rPr lang="pt-BR" sz="1400" err="1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Text"/>
                <a:cs typeface="Segoe UI Variable Text"/>
              </a:rPr>
              <a:t>spouses</a:t>
            </a:r>
            <a:r>
              <a:rPr lang="pt-BR" sz="140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Text"/>
                <a:cs typeface="Segoe UI Variable Text"/>
              </a:rPr>
              <a:t> </a:t>
            </a:r>
            <a:r>
              <a:rPr lang="pt-BR" sz="1400" err="1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Text"/>
                <a:cs typeface="Segoe UI Variable Text"/>
              </a:rPr>
              <a:t>aboard</a:t>
            </a:r>
            <a:endParaRPr lang="pt-BR" sz="1400">
              <a:solidFill>
                <a:schemeClr val="tx1">
                  <a:lumMod val="65000"/>
                  <a:lumOff val="35000"/>
                </a:schemeClr>
              </a:solidFill>
              <a:latin typeface="Segoe UI Variable Text"/>
              <a:cs typeface="Segoe UI Variable Text"/>
            </a:endParaRPr>
          </a:p>
          <a:p>
            <a:pPr marL="800100" lvl="1" indent="-342900">
              <a:lnSpc>
                <a:spcPct val="150000"/>
              </a:lnSpc>
              <a:buFont typeface="Courier New"/>
              <a:buChar char="o"/>
            </a:pPr>
            <a:r>
              <a:rPr lang="pt-BR" sz="1600" err="1">
                <a:latin typeface="Segoe UI Variable Text"/>
                <a:cs typeface="Segoe UI Variable Text"/>
              </a:rPr>
              <a:t>Group</a:t>
            </a:r>
            <a:r>
              <a:rPr lang="pt-BR" sz="1600">
                <a:latin typeface="Segoe UI Variable Text"/>
                <a:cs typeface="Segoe UI Variable Text"/>
              </a:rPr>
              <a:t> </a:t>
            </a:r>
            <a:r>
              <a:rPr lang="pt-BR" sz="1600" err="1">
                <a:latin typeface="Segoe UI Variable Text"/>
                <a:cs typeface="Segoe UI Variable Text"/>
              </a:rPr>
              <a:t>by</a:t>
            </a:r>
            <a:r>
              <a:rPr lang="pt-BR" sz="1600">
                <a:latin typeface="Segoe UI Variable Text"/>
                <a:cs typeface="Segoe UI Variable Text"/>
              </a:rPr>
              <a:t> </a:t>
            </a:r>
            <a:r>
              <a:rPr lang="pt-BR" sz="1600" err="1">
                <a:latin typeface="Segoe UI Variable Text"/>
                <a:cs typeface="Segoe UI Variable Text"/>
              </a:rPr>
              <a:t>family</a:t>
            </a:r>
            <a:r>
              <a:rPr lang="pt-BR" sz="1600">
                <a:latin typeface="Segoe UI Variable Text"/>
                <a:cs typeface="Segoe UI Variable Text"/>
              </a:rPr>
              <a:t> </a:t>
            </a:r>
            <a:r>
              <a:rPr lang="pt-BR" sz="1600" err="1">
                <a:latin typeface="Segoe UI Variable Text"/>
                <a:cs typeface="Segoe UI Variable Text"/>
              </a:rPr>
              <a:t>size</a:t>
            </a:r>
            <a:endParaRPr lang="pt-BR" sz="1600">
              <a:latin typeface="Segoe UI Variable Text"/>
              <a:cs typeface="Segoe UI Variable Text"/>
            </a:endParaRPr>
          </a:p>
          <a:p>
            <a:pPr marL="1257300" lvl="2" indent="-342900">
              <a:buFont typeface="Arial"/>
              <a:buChar char="•"/>
            </a:pPr>
            <a:r>
              <a:rPr lang="pt-BR" sz="1400" err="1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Text"/>
                <a:cs typeface="Segoe UI Variable Text"/>
              </a:rPr>
              <a:t>Alone</a:t>
            </a:r>
            <a:r>
              <a:rPr lang="pt-BR" sz="140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Text"/>
                <a:cs typeface="Segoe UI Variable Text"/>
              </a:rPr>
              <a:t>, </a:t>
            </a:r>
            <a:r>
              <a:rPr lang="pt-BR" sz="1400" err="1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Text"/>
                <a:cs typeface="Segoe UI Variable Text"/>
              </a:rPr>
              <a:t>Small</a:t>
            </a:r>
            <a:r>
              <a:rPr lang="pt-BR" sz="140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Text"/>
                <a:cs typeface="Segoe UI Variable Text"/>
              </a:rPr>
              <a:t> </a:t>
            </a:r>
            <a:r>
              <a:rPr lang="pt-BR" sz="1400" err="1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Text"/>
                <a:cs typeface="Segoe UI Variable Text"/>
              </a:rPr>
              <a:t>family</a:t>
            </a:r>
            <a:r>
              <a:rPr lang="pt-BR" sz="140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Text"/>
                <a:cs typeface="Segoe UI Variable Text"/>
              </a:rPr>
              <a:t> </a:t>
            </a:r>
            <a:r>
              <a:rPr lang="pt-BR" sz="1400" err="1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Text"/>
                <a:cs typeface="Segoe UI Variable Text"/>
              </a:rPr>
              <a:t>and</a:t>
            </a:r>
            <a:r>
              <a:rPr lang="pt-BR" sz="140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Text"/>
                <a:cs typeface="Segoe UI Variable Text"/>
              </a:rPr>
              <a:t> Large </a:t>
            </a:r>
            <a:r>
              <a:rPr lang="pt-BR" sz="1400" err="1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Text"/>
                <a:cs typeface="Segoe UI Variable Text"/>
              </a:rPr>
              <a:t>family</a:t>
            </a:r>
            <a:endParaRPr lang="pt-BR" sz="1400">
              <a:solidFill>
                <a:schemeClr val="tx1">
                  <a:lumMod val="65000"/>
                  <a:lumOff val="35000"/>
                </a:schemeClr>
              </a:solidFill>
              <a:latin typeface="Segoe UI Variable Text"/>
              <a:cs typeface="Segoe UI Variable Text"/>
            </a:endParaRPr>
          </a:p>
          <a:p>
            <a:pPr marL="800100" lvl="1" indent="-342900">
              <a:lnSpc>
                <a:spcPct val="150000"/>
              </a:lnSpc>
              <a:buFont typeface="Courier New"/>
              <a:buChar char="o"/>
            </a:pPr>
            <a:r>
              <a:rPr lang="pt-BR" sz="1600" err="1">
                <a:latin typeface="Segoe UI Variable Text"/>
                <a:cs typeface="Segoe UI Variable Text"/>
              </a:rPr>
              <a:t>Group</a:t>
            </a:r>
            <a:r>
              <a:rPr lang="pt-BR" sz="1600">
                <a:latin typeface="Segoe UI Variable Text"/>
                <a:cs typeface="Segoe UI Variable Text"/>
              </a:rPr>
              <a:t> </a:t>
            </a:r>
            <a:r>
              <a:rPr lang="pt-BR" sz="1600" err="1">
                <a:latin typeface="Segoe UI Variable Text"/>
                <a:cs typeface="Segoe UI Variable Text"/>
              </a:rPr>
              <a:t>by</a:t>
            </a:r>
            <a:r>
              <a:rPr lang="pt-BR" sz="1600">
                <a:latin typeface="Segoe UI Variable Text"/>
                <a:cs typeface="Segoe UI Variable Text"/>
              </a:rPr>
              <a:t> age</a:t>
            </a:r>
          </a:p>
          <a:p>
            <a:pPr marL="1257300" lvl="2" indent="-342900">
              <a:buFont typeface="Arial"/>
              <a:buChar char="•"/>
            </a:pPr>
            <a:r>
              <a:rPr lang="pt-BR" sz="1400" err="1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Text"/>
                <a:cs typeface="Segoe UI Variable Text"/>
              </a:rPr>
              <a:t>Passengers</a:t>
            </a:r>
            <a:r>
              <a:rPr lang="pt-BR" sz="140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Text"/>
                <a:cs typeface="Segoe UI Variable Text"/>
              </a:rPr>
              <a:t> </a:t>
            </a:r>
            <a:r>
              <a:rPr lang="pt-BR" sz="1400" err="1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Text"/>
                <a:cs typeface="Segoe UI Variable Text"/>
              </a:rPr>
              <a:t>grouped</a:t>
            </a:r>
            <a:r>
              <a:rPr lang="pt-BR" sz="140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Text"/>
                <a:cs typeface="Segoe UI Variable Text"/>
              </a:rPr>
              <a:t> </a:t>
            </a:r>
            <a:r>
              <a:rPr lang="pt-BR" sz="1400" err="1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Text"/>
                <a:cs typeface="Segoe UI Variable Text"/>
              </a:rPr>
              <a:t>by</a:t>
            </a:r>
            <a:r>
              <a:rPr lang="pt-BR" sz="140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Text"/>
                <a:cs typeface="Segoe UI Variable Text"/>
              </a:rPr>
              <a:t> ages</a:t>
            </a:r>
          </a:p>
          <a:p>
            <a:pPr marL="800100" lvl="1" indent="-342900">
              <a:lnSpc>
                <a:spcPct val="150000"/>
              </a:lnSpc>
              <a:buFont typeface="Courier New"/>
              <a:buChar char="o"/>
            </a:pPr>
            <a:r>
              <a:rPr lang="pt-BR" sz="1600" err="1">
                <a:latin typeface="Segoe UI Variable Text"/>
                <a:cs typeface="Segoe UI Variable Text"/>
              </a:rPr>
              <a:t>Survived</a:t>
            </a:r>
            <a:r>
              <a:rPr lang="pt-BR" sz="1600">
                <a:latin typeface="Segoe UI Variable Text"/>
                <a:cs typeface="Segoe UI Variable Text"/>
              </a:rPr>
              <a:t> non </a:t>
            </a:r>
            <a:r>
              <a:rPr lang="pt-BR" sz="1600" err="1">
                <a:latin typeface="Segoe UI Variable Text"/>
                <a:cs typeface="Segoe UI Variable Text"/>
              </a:rPr>
              <a:t>boolean</a:t>
            </a:r>
            <a:endParaRPr lang="pt-BR" sz="1600">
              <a:latin typeface="Segoe UI Variable Text"/>
              <a:cs typeface="Segoe UI Variable Text"/>
            </a:endParaRPr>
          </a:p>
          <a:p>
            <a:pPr marL="1257300" lvl="2" indent="-342900">
              <a:buFont typeface="Arial"/>
              <a:buChar char="•"/>
            </a:pPr>
            <a:r>
              <a:rPr lang="pt-BR" sz="140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Text"/>
                <a:cs typeface="Segoe UI Variable Text"/>
              </a:rPr>
              <a:t>For </a:t>
            </a:r>
            <a:r>
              <a:rPr lang="pt-BR" sz="1400" err="1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Text"/>
                <a:cs typeface="Segoe UI Variable Text"/>
              </a:rPr>
              <a:t>chart</a:t>
            </a:r>
            <a:r>
              <a:rPr lang="pt-BR" sz="1400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Text"/>
                <a:cs typeface="Segoe UI Variable Text"/>
              </a:rPr>
              <a:t> </a:t>
            </a:r>
            <a:r>
              <a:rPr lang="pt-BR" sz="1400" err="1">
                <a:solidFill>
                  <a:schemeClr val="tx1">
                    <a:lumMod val="65000"/>
                    <a:lumOff val="35000"/>
                  </a:schemeClr>
                </a:solidFill>
                <a:latin typeface="Segoe UI Variable Text"/>
                <a:cs typeface="Segoe UI Variable Text"/>
              </a:rPr>
              <a:t>analysis</a:t>
            </a:r>
            <a:endParaRPr lang="pt-BR" sz="1400">
              <a:solidFill>
                <a:schemeClr val="tx1">
                  <a:lumMod val="65000"/>
                  <a:lumOff val="35000"/>
                </a:schemeClr>
              </a:solidFill>
              <a:latin typeface="Segoe UI Variable Text"/>
              <a:cs typeface="Segoe UI Variable Text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b="1" err="1">
                <a:solidFill>
                  <a:schemeClr val="tx2"/>
                </a:solidFill>
                <a:latin typeface="Segoe UI Variable Text"/>
                <a:cs typeface="Segoe UI Variable Text"/>
              </a:rPr>
              <a:t>Null</a:t>
            </a:r>
            <a:r>
              <a:rPr lang="pt-BR" b="1">
                <a:solidFill>
                  <a:schemeClr val="tx2"/>
                </a:solidFill>
                <a:latin typeface="Segoe UI Variable Text"/>
                <a:cs typeface="Segoe UI Variable Text"/>
              </a:rPr>
              <a:t> </a:t>
            </a:r>
            <a:r>
              <a:rPr lang="pt-BR" b="1" err="1">
                <a:solidFill>
                  <a:schemeClr val="tx2"/>
                </a:solidFill>
                <a:latin typeface="Segoe UI Variable Text"/>
                <a:cs typeface="Segoe UI Variable Text"/>
              </a:rPr>
              <a:t>values</a:t>
            </a:r>
            <a:r>
              <a:rPr lang="pt-BR" b="1">
                <a:solidFill>
                  <a:schemeClr val="tx2"/>
                </a:solidFill>
                <a:latin typeface="Segoe UI Variable Text"/>
                <a:cs typeface="Segoe UI Variable Text"/>
              </a:rPr>
              <a:t> in </a:t>
            </a:r>
            <a:r>
              <a:rPr lang="pt-BR" b="1" i="1" err="1">
                <a:solidFill>
                  <a:schemeClr val="tx2"/>
                </a:solidFill>
                <a:latin typeface="Segoe UI Variable Text"/>
                <a:cs typeface="Segoe UI Variable Text"/>
              </a:rPr>
              <a:t>Embarked</a:t>
            </a:r>
            <a:r>
              <a:rPr lang="pt-BR" b="1" i="1">
                <a:solidFill>
                  <a:schemeClr val="tx2"/>
                </a:solidFill>
                <a:latin typeface="Segoe UI Variable Text"/>
                <a:cs typeface="Segoe UI Variable Text"/>
              </a:rPr>
              <a:t> </a:t>
            </a:r>
            <a:r>
              <a:rPr lang="pt-BR" b="1" err="1">
                <a:solidFill>
                  <a:schemeClr val="tx2"/>
                </a:solidFill>
                <a:latin typeface="Segoe UI Variable Text"/>
                <a:cs typeface="Segoe UI Variable Text"/>
              </a:rPr>
              <a:t>column</a:t>
            </a:r>
            <a:endParaRPr lang="pt-BR" b="1">
              <a:solidFill>
                <a:schemeClr val="tx2"/>
              </a:solidFill>
              <a:latin typeface="Segoe UI Variable Text"/>
              <a:cs typeface="Segoe UI Variable Text"/>
            </a:endParaRPr>
          </a:p>
          <a:p>
            <a:pPr marL="800100" lvl="1" indent="-342900">
              <a:buFont typeface="Courier New"/>
              <a:buChar char="o"/>
            </a:pPr>
            <a:r>
              <a:rPr lang="pt-BR" sz="1600" err="1">
                <a:latin typeface="Segoe UI Variable Text"/>
                <a:cs typeface="Segoe UI Variable Text"/>
              </a:rPr>
              <a:t>Changed</a:t>
            </a:r>
            <a:r>
              <a:rPr lang="pt-BR" sz="1600">
                <a:latin typeface="Segoe UI Variable Text"/>
                <a:cs typeface="Segoe UI Variable Text"/>
              </a:rPr>
              <a:t> </a:t>
            </a:r>
            <a:r>
              <a:rPr lang="pt-BR" sz="1600" err="1">
                <a:latin typeface="Segoe UI Variable Text"/>
                <a:cs typeface="Segoe UI Variable Text"/>
              </a:rPr>
              <a:t>to</a:t>
            </a:r>
            <a:r>
              <a:rPr lang="pt-BR" sz="1600">
                <a:latin typeface="Segoe UI Variable Text"/>
                <a:cs typeface="Segoe UI Variable Text"/>
              </a:rPr>
              <a:t> </a:t>
            </a:r>
            <a:r>
              <a:rPr lang="pt-BR" sz="1600" err="1">
                <a:latin typeface="Segoe UI Variable Text"/>
                <a:cs typeface="Segoe UI Variable Text"/>
              </a:rPr>
              <a:t>the</a:t>
            </a:r>
            <a:r>
              <a:rPr lang="pt-BR" sz="1600">
                <a:latin typeface="Segoe UI Variable Text"/>
                <a:cs typeface="Segoe UI Variable Text"/>
              </a:rPr>
              <a:t> </a:t>
            </a:r>
            <a:r>
              <a:rPr lang="pt-BR" sz="1600" err="1">
                <a:latin typeface="Segoe UI Variable Text"/>
                <a:cs typeface="Segoe UI Variable Text"/>
              </a:rPr>
              <a:t>most</a:t>
            </a:r>
            <a:r>
              <a:rPr lang="pt-BR" sz="1600">
                <a:latin typeface="Segoe UI Variable Text"/>
                <a:cs typeface="Segoe UI Variable Text"/>
              </a:rPr>
              <a:t> common </a:t>
            </a:r>
            <a:r>
              <a:rPr lang="pt-BR" sz="1600" err="1">
                <a:latin typeface="Segoe UI Variable Text"/>
                <a:cs typeface="Segoe UI Variable Text"/>
              </a:rPr>
              <a:t>value</a:t>
            </a:r>
            <a:r>
              <a:rPr lang="pt-BR" sz="1600">
                <a:latin typeface="Segoe UI Variable Text"/>
                <a:cs typeface="Segoe UI Variable Text"/>
              </a:rPr>
              <a:t> 'S'</a:t>
            </a:r>
          </a:p>
        </p:txBody>
      </p:sp>
    </p:spTree>
    <p:extLst>
      <p:ext uri="{BB962C8B-B14F-4D97-AF65-F5344CB8AC3E}">
        <p14:creationId xmlns:p14="http://schemas.microsoft.com/office/powerpoint/2010/main" val="36373548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9756A0-A91B-8A8E-36E3-417C877D8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>
                <a:solidFill>
                  <a:srgbClr val="FFFFFF"/>
                </a:solidFill>
                <a:latin typeface="Segoe UI Variable Text"/>
                <a:cs typeface="Segoe UI Variable Text"/>
              </a:rPr>
              <a:t>OVERALL STATISTICS</a:t>
            </a:r>
            <a:endParaRPr lang="en-US" sz="4800" b="1" kern="1200">
              <a:solidFill>
                <a:srgbClr val="FFFFFF"/>
              </a:solidFill>
              <a:latin typeface="Segoe UI Variable Text"/>
              <a:cs typeface="Segoe UI Variable Tex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1767994-2E40-6191-52A3-BB2A0BC26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79E628FB-DA81-4D2B-86DD-432ED2A29FDE}" type="slidenum">
              <a:rPr lang="en-US" sz="1100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4</a:t>
            </a:fld>
            <a:endParaRPr lang="en-US" sz="1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2503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Gráfico, Gráfico de cascata&#10;&#10;O conteúdo gerado por IA pode estar incorreto.">
            <a:extLst>
              <a:ext uri="{FF2B5EF4-FFF2-40B4-BE49-F238E27FC236}">
                <a16:creationId xmlns:a16="http://schemas.microsoft.com/office/drawing/2014/main" id="{2C9CFCAF-5FB9-2285-9199-661B849B4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1440" y="1299147"/>
            <a:ext cx="6770559" cy="5159116"/>
          </a:xfrm>
          <a:prstGeom prst="rect">
            <a:avLst/>
          </a:prstGeom>
          <a:ln>
            <a:noFill/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12983CC-F9F6-515E-CDF5-2ADCC2E24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PT" sz="2400" b="1">
                <a:solidFill>
                  <a:srgbClr val="FFFFFF"/>
                </a:solidFill>
                <a:latin typeface="Segoe UI Variable Text"/>
                <a:cs typeface="Segoe UI Variable Text"/>
              </a:rPr>
              <a:t>DISTRIBUTION OF PASSENGERS BY GENDER</a:t>
            </a:r>
            <a:endParaRPr lang="pt-BR" sz="2400">
              <a:solidFill>
                <a:srgbClr val="FFFFFF"/>
              </a:solidFill>
              <a:latin typeface="Segoe UI Variable Text"/>
              <a:cs typeface="Segoe UI Variable Text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45CF79-6018-2790-9487-1B2B0F852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9E628FB-DA81-4D2B-86DD-432ED2A29FDE}" type="slidenum">
              <a:rPr lang="pt-PT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pt-PT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F96BF10-85E5-B408-A59B-8863D4921DBB}"/>
              </a:ext>
            </a:extLst>
          </p:cNvPr>
          <p:cNvSpPr txBox="1"/>
          <p:nvPr/>
        </p:nvSpPr>
        <p:spPr>
          <a:xfrm>
            <a:off x="6374971" y="6272575"/>
            <a:ext cx="4636996" cy="514822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 </a:t>
            </a:r>
            <a:r>
              <a:rPr lang="pt-BR" err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Survivers</a:t>
            </a:r>
            <a:r>
              <a:rPr lang="pt-BR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:</a:t>
            </a:r>
            <a:r>
              <a:rPr lang="pt-BR" b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 342 </a:t>
            </a:r>
            <a:r>
              <a:rPr lang="pt-BR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   Non-</a:t>
            </a:r>
            <a:r>
              <a:rPr lang="pt-BR" err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survivers</a:t>
            </a:r>
            <a:r>
              <a:rPr lang="pt-BR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: </a:t>
            </a:r>
            <a:r>
              <a:rPr lang="pt-BR" b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549</a:t>
            </a:r>
            <a:endParaRPr lang="pt-BR">
              <a:solidFill>
                <a:schemeClr val="bg2">
                  <a:lumMod val="25000"/>
                </a:schemeClr>
              </a:solidFill>
              <a:latin typeface="Aptos" panose="02110004020202020204"/>
              <a:cs typeface="Segoe UI Variable Text"/>
            </a:endParaRPr>
          </a:p>
        </p:txBody>
      </p:sp>
      <p:pic>
        <p:nvPicPr>
          <p:cNvPr id="8" name="Imagem 7" descr="Gráfico, Gráfico de pizza&#10;&#10;O conteúdo gerado por IA pode estar incorreto.">
            <a:extLst>
              <a:ext uri="{FF2B5EF4-FFF2-40B4-BE49-F238E27FC236}">
                <a16:creationId xmlns:a16="http://schemas.microsoft.com/office/drawing/2014/main" id="{627E2F8B-A61B-B924-9D3B-430DE99D47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002" t="3196" r="17185" b="13107"/>
          <a:stretch>
            <a:fillRect/>
          </a:stretch>
        </p:blipFill>
        <p:spPr>
          <a:xfrm>
            <a:off x="645171" y="1604235"/>
            <a:ext cx="4277244" cy="4098028"/>
          </a:xfrm>
          <a:prstGeom prst="rect">
            <a:avLst/>
          </a:prstGeom>
        </p:spPr>
      </p:pic>
      <p:grpSp>
        <p:nvGrpSpPr>
          <p:cNvPr id="7" name="Agrupar 6">
            <a:extLst>
              <a:ext uri="{FF2B5EF4-FFF2-40B4-BE49-F238E27FC236}">
                <a16:creationId xmlns:a16="http://schemas.microsoft.com/office/drawing/2014/main" id="{3B70A7FE-482D-FE9D-D1E0-9A17BE91C84A}"/>
              </a:ext>
            </a:extLst>
          </p:cNvPr>
          <p:cNvGrpSpPr/>
          <p:nvPr/>
        </p:nvGrpSpPr>
        <p:grpSpPr>
          <a:xfrm>
            <a:off x="761743" y="5820736"/>
            <a:ext cx="4345184" cy="868323"/>
            <a:chOff x="761743" y="5820736"/>
            <a:chExt cx="4345184" cy="868323"/>
          </a:xfrm>
        </p:grpSpPr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D0FA57B9-D9D7-30BE-E104-CE4097D260F0}"/>
                </a:ext>
              </a:extLst>
            </p:cNvPr>
            <p:cNvSpPr txBox="1"/>
            <p:nvPr/>
          </p:nvSpPr>
          <p:spPr>
            <a:xfrm>
              <a:off x="761743" y="5820736"/>
              <a:ext cx="4345184" cy="868323"/>
            </a:xfrm>
            <a:prstGeom prst="roundRect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pt-BR" err="1">
                  <a:solidFill>
                    <a:schemeClr val="bg2">
                      <a:lumMod val="25000"/>
                    </a:schemeClr>
                  </a:solidFill>
                  <a:latin typeface="Segoe UI Variable Text"/>
                  <a:cs typeface="Segoe UI Variable Text"/>
                </a:rPr>
                <a:t>Men</a:t>
              </a:r>
              <a:r>
                <a:rPr lang="pt-BR">
                  <a:solidFill>
                    <a:schemeClr val="bg2">
                      <a:lumMod val="25000"/>
                    </a:schemeClr>
                  </a:solidFill>
                  <a:latin typeface="Segoe UI Variable Text"/>
                  <a:cs typeface="Segoe UI Variable Text"/>
                </a:rPr>
                <a:t>:</a:t>
              </a:r>
              <a:r>
                <a:rPr lang="pt-BR" b="1">
                  <a:solidFill>
                    <a:schemeClr val="bg2">
                      <a:lumMod val="25000"/>
                    </a:schemeClr>
                  </a:solidFill>
                  <a:latin typeface="Segoe UI Variable Text"/>
                  <a:cs typeface="Segoe UI Variable Text"/>
                </a:rPr>
                <a:t> 577</a:t>
              </a:r>
              <a:endParaRPr lang="pt-BR">
                <a:solidFill>
                  <a:schemeClr val="bg2">
                    <a:lumMod val="25000"/>
                  </a:schemeClr>
                </a:solidFill>
              </a:endParaRPr>
            </a:p>
            <a:p>
              <a:pPr algn="ctr"/>
              <a:r>
                <a:rPr lang="pt-BR">
                  <a:solidFill>
                    <a:schemeClr val="bg2">
                      <a:lumMod val="25000"/>
                    </a:schemeClr>
                  </a:solidFill>
                  <a:latin typeface="Segoe UI Variable Text"/>
                  <a:cs typeface="Segoe UI Variable Text"/>
                </a:rPr>
                <a:t>            </a:t>
              </a:r>
              <a:r>
                <a:rPr lang="pt-BR" err="1">
                  <a:solidFill>
                    <a:schemeClr val="bg2">
                      <a:lumMod val="25000"/>
                    </a:schemeClr>
                  </a:solidFill>
                  <a:latin typeface="Segoe UI Variable Text"/>
                  <a:cs typeface="Segoe UI Variable Text"/>
                </a:rPr>
                <a:t>Women</a:t>
              </a:r>
              <a:r>
                <a:rPr lang="pt-BR">
                  <a:solidFill>
                    <a:schemeClr val="bg2">
                      <a:lumMod val="25000"/>
                    </a:schemeClr>
                  </a:solidFill>
                  <a:latin typeface="Segoe UI Variable Text"/>
                  <a:cs typeface="Segoe UI Variable Text"/>
                </a:rPr>
                <a:t>: </a:t>
              </a:r>
              <a:r>
                <a:rPr lang="pt-BR" b="1">
                  <a:solidFill>
                    <a:schemeClr val="bg2">
                      <a:lumMod val="25000"/>
                    </a:schemeClr>
                  </a:solidFill>
                  <a:latin typeface="Segoe UI Variable Text"/>
                  <a:cs typeface="Segoe UI Variable Text"/>
                </a:rPr>
                <a:t>314</a:t>
              </a:r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EFACF37B-73ED-F98C-A5F6-EF2C1D4CCEC9}"/>
                </a:ext>
              </a:extLst>
            </p:cNvPr>
            <p:cNvSpPr txBox="1"/>
            <p:nvPr/>
          </p:nvSpPr>
          <p:spPr>
            <a:xfrm>
              <a:off x="913215" y="6105780"/>
              <a:ext cx="2463206" cy="408623"/>
            </a:xfrm>
            <a:prstGeom prst="roundRect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pt-BR">
                  <a:solidFill>
                    <a:schemeClr val="bg2">
                      <a:lumMod val="25000"/>
                    </a:schemeClr>
                  </a:solidFill>
                  <a:latin typeface="Segoe UI Variable Text"/>
                  <a:cs typeface="Segoe UI Variable Text"/>
                </a:rPr>
                <a:t>Total </a:t>
              </a:r>
              <a:r>
                <a:rPr lang="pt-BR" err="1">
                  <a:solidFill>
                    <a:schemeClr val="bg2">
                      <a:lumMod val="25000"/>
                    </a:schemeClr>
                  </a:solidFill>
                  <a:latin typeface="Segoe UI Variable Text"/>
                  <a:cs typeface="Segoe UI Variable Text"/>
                </a:rPr>
                <a:t>Passengers</a:t>
              </a:r>
              <a:r>
                <a:rPr lang="pt-BR">
                  <a:solidFill>
                    <a:schemeClr val="bg2">
                      <a:lumMod val="25000"/>
                    </a:schemeClr>
                  </a:solidFill>
                  <a:latin typeface="Segoe UI Variable Text"/>
                  <a:cs typeface="Segoe UI Variable Text"/>
                </a:rPr>
                <a:t>: </a:t>
              </a:r>
              <a:r>
                <a:rPr lang="pt-BR" b="1">
                  <a:solidFill>
                    <a:schemeClr val="bg2">
                      <a:lumMod val="25000"/>
                    </a:schemeClr>
                  </a:solidFill>
                  <a:latin typeface="Segoe UI Variable Text"/>
                  <a:cs typeface="Segoe UI Variable Text"/>
                </a:rPr>
                <a:t>891</a:t>
              </a:r>
              <a:endParaRPr lang="pt-BR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720624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A64942-1946-919A-28E6-3DE15DFD4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44BC8C3-C2E2-9565-A1EC-EC2B62C43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79E628FB-DA81-4D2B-86DD-432ED2A29FDE}" type="slidenum">
              <a:rPr lang="en-US" sz="1100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6</a:t>
            </a:fld>
            <a:endParaRPr lang="en-US" sz="1100">
              <a:solidFill>
                <a:srgbClr val="FFFFFF"/>
              </a:solidFill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0C7B82C2-2C5E-2DDD-78AF-8D23760FA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5552338"/>
            <a:ext cx="9895951" cy="103366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PT" sz="2400" b="1">
                <a:solidFill>
                  <a:srgbClr val="FFFFFF"/>
                </a:solidFill>
                <a:latin typeface="Segoe UI Variable Text"/>
                <a:ea typeface="+mj-lt"/>
                <a:cs typeface="Segoe UI Variable Text"/>
              </a:rPr>
              <a:t>GENDER COMPARISON OF SURVIVERS AND NON-SURVIVERS</a:t>
            </a:r>
            <a:endParaRPr lang="pt-BR"/>
          </a:p>
        </p:txBody>
      </p:sp>
      <p:pic>
        <p:nvPicPr>
          <p:cNvPr id="2" name="Imagem 1" descr="Gráfico, Gráfico de pizza&#10;&#10;O conteúdo gerado por IA pode estar incorreto.">
            <a:extLst>
              <a:ext uri="{FF2B5EF4-FFF2-40B4-BE49-F238E27FC236}">
                <a16:creationId xmlns:a16="http://schemas.microsoft.com/office/drawing/2014/main" id="{70C4F537-DA8C-C6AB-6505-BF6BB0EDFB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632" r="8428" b="19939"/>
          <a:stretch>
            <a:fillRect/>
          </a:stretch>
        </p:blipFill>
        <p:spPr>
          <a:xfrm>
            <a:off x="687197" y="-6245"/>
            <a:ext cx="10452322" cy="525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15421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 descr="Gráfico, Histograma&#10;&#10;O conteúdo gerado por IA pode estar incorreto.">
            <a:extLst>
              <a:ext uri="{FF2B5EF4-FFF2-40B4-BE49-F238E27FC236}">
                <a16:creationId xmlns:a16="http://schemas.microsoft.com/office/drawing/2014/main" id="{0C281322-4404-E20F-4E87-3F07F1EA4E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74" r="685" b="2516"/>
          <a:stretch>
            <a:fillRect/>
          </a:stretch>
        </p:blipFill>
        <p:spPr>
          <a:xfrm>
            <a:off x="-1" y="528513"/>
            <a:ext cx="11730085" cy="578828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E741B8-D7A5-084F-E956-BD60B3C71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9E628FB-DA81-4D2B-86DD-432ED2A29FDE}" type="slidenum">
              <a:rPr lang="pt-PT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7</a:t>
            </a:fld>
            <a:endParaRPr lang="pt-PT" sz="1100">
              <a:solidFill>
                <a:srgbClr val="FFFFFF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C0BC2F0-61E7-C2B7-AD98-17E3CA7259C9}"/>
              </a:ext>
            </a:extLst>
          </p:cNvPr>
          <p:cNvSpPr txBox="1"/>
          <p:nvPr/>
        </p:nvSpPr>
        <p:spPr>
          <a:xfrm>
            <a:off x="510465" y="141753"/>
            <a:ext cx="787507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2400" b="1">
                <a:solidFill>
                  <a:schemeClr val="accent5">
                    <a:lumMod val="49000"/>
                  </a:schemeClr>
                </a:solidFill>
                <a:latin typeface="Segoe UI Variable Text"/>
                <a:ea typeface="+mn-lt"/>
                <a:cs typeface="Segoe UI Variable Text"/>
              </a:rPr>
              <a:t>DISTRIBUTION OF SURVIVERS BY GENDER AND AGE</a:t>
            </a:r>
            <a:endParaRPr lang="pt-BR">
              <a:solidFill>
                <a:schemeClr val="accent5">
                  <a:lumMod val="49000"/>
                </a:schemeClr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80732D9-3B94-517B-121D-7CB328532DF1}"/>
              </a:ext>
            </a:extLst>
          </p:cNvPr>
          <p:cNvSpPr txBox="1"/>
          <p:nvPr/>
        </p:nvSpPr>
        <p:spPr>
          <a:xfrm>
            <a:off x="9274025" y="128740"/>
            <a:ext cx="2222580" cy="408623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 Average Age: </a:t>
            </a:r>
            <a:r>
              <a:rPr lang="pt-BR" b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29 </a:t>
            </a:r>
            <a:endParaRPr lang="pt-BR">
              <a:solidFill>
                <a:schemeClr val="bg2">
                  <a:lumMod val="25000"/>
                </a:schemeClr>
              </a:solidFill>
              <a:latin typeface="Aptos" panose="02110004020202020204"/>
              <a:cs typeface="Segoe UI Variable Text"/>
            </a:endParaRPr>
          </a:p>
        </p:txBody>
      </p:sp>
    </p:spTree>
    <p:extLst>
      <p:ext uri="{BB962C8B-B14F-4D97-AF65-F5344CB8AC3E}">
        <p14:creationId xmlns:p14="http://schemas.microsoft.com/office/powerpoint/2010/main" val="417910916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1A9ADD6-DD16-577C-077A-4CCD9FC2B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>
                <a:solidFill>
                  <a:srgbClr val="FFFFFF"/>
                </a:solidFill>
              </a:rPr>
              <a:t>CORRELATION MATRIX - HEATMAP</a:t>
            </a:r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6B6D8F6-6A47-D1DF-DA46-A91C5BF59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31079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79E628FB-DA81-4D2B-86DD-432ED2A29FDE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8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0ED52B4-E9FD-DE02-2DD9-1AD79671A9B4}"/>
              </a:ext>
            </a:extLst>
          </p:cNvPr>
          <p:cNvSpPr txBox="1"/>
          <p:nvPr/>
        </p:nvSpPr>
        <p:spPr>
          <a:xfrm>
            <a:off x="7153434" y="4221914"/>
            <a:ext cx="3924209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pt-BR" b="1">
                <a:latin typeface="Segoe UI Variable Text"/>
                <a:cs typeface="Segoe UI Variable Text"/>
              </a:rPr>
              <a:t>Most meaningful correlations:</a:t>
            </a:r>
            <a:endParaRPr lang="pt-BR" b="1"/>
          </a:p>
          <a:p>
            <a:pPr marL="800100" lvl="1" indent="-342900">
              <a:lnSpc>
                <a:spcPct val="150000"/>
              </a:lnSpc>
              <a:buFont typeface="Courier New"/>
              <a:buChar char="o"/>
            </a:pPr>
            <a:r>
              <a:rPr lang="pt-BR">
                <a:latin typeface="Segoe UI Variable Text"/>
                <a:cs typeface="Segoe UI Variable Text"/>
              </a:rPr>
              <a:t>Survival vs Gender</a:t>
            </a:r>
          </a:p>
          <a:p>
            <a:pPr marL="800100" lvl="1" indent="-342900">
              <a:lnSpc>
                <a:spcPct val="150000"/>
              </a:lnSpc>
              <a:buFont typeface="Courier New"/>
              <a:buChar char="o"/>
            </a:pPr>
            <a:r>
              <a:rPr lang="pt-BR">
                <a:latin typeface="Segoe UI Variable Text"/>
                <a:cs typeface="Segoe UI Variable Text"/>
              </a:rPr>
              <a:t>Survival vs Class</a:t>
            </a:r>
          </a:p>
          <a:p>
            <a:pPr marL="800100" lvl="1" indent="-342900">
              <a:lnSpc>
                <a:spcPct val="150000"/>
              </a:lnSpc>
              <a:buFont typeface="Courier New"/>
              <a:buChar char="o"/>
            </a:pPr>
            <a:r>
              <a:rPr lang="pt-BR" err="1">
                <a:latin typeface="Segoe UI Variable Text"/>
                <a:cs typeface="Segoe UI Variable Text"/>
              </a:rPr>
              <a:t>Survival</a:t>
            </a:r>
            <a:r>
              <a:rPr lang="pt-BR">
                <a:latin typeface="Segoe UI Variable Text"/>
                <a:cs typeface="Segoe UI Variable Text"/>
              </a:rPr>
              <a:t> </a:t>
            </a:r>
            <a:r>
              <a:rPr lang="pt-BR" err="1">
                <a:latin typeface="Segoe UI Variable Text"/>
                <a:cs typeface="Segoe UI Variable Text"/>
              </a:rPr>
              <a:t>vs</a:t>
            </a:r>
            <a:r>
              <a:rPr lang="pt-BR">
                <a:latin typeface="Segoe UI Variable Text"/>
                <a:cs typeface="Segoe UI Variable Text"/>
              </a:rPr>
              <a:t> Ticket price</a:t>
            </a:r>
          </a:p>
          <a:p>
            <a:pPr marL="342900" indent="-342900">
              <a:buFont typeface="Courier New"/>
              <a:buChar char="o"/>
            </a:pPr>
            <a:endParaRPr lang="pt-BR">
              <a:latin typeface="Segoe UI Variable Text"/>
              <a:cs typeface="Segoe UI Variable Text"/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AD82C79C-452E-1010-5DEA-7BC0D458994E}"/>
              </a:ext>
            </a:extLst>
          </p:cNvPr>
          <p:cNvSpPr/>
          <p:nvPr/>
        </p:nvSpPr>
        <p:spPr>
          <a:xfrm rot="5760000">
            <a:off x="1460869" y="1613285"/>
            <a:ext cx="325778" cy="71360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DE8A969E-8BEE-7FFB-D066-FC4A854485B3}"/>
              </a:ext>
            </a:extLst>
          </p:cNvPr>
          <p:cNvSpPr txBox="1"/>
          <p:nvPr/>
        </p:nvSpPr>
        <p:spPr>
          <a:xfrm>
            <a:off x="7156829" y="2099588"/>
            <a:ext cx="4551737" cy="21182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pt-BR" b="1">
                <a:latin typeface="Segoe UI Variable Text"/>
                <a:cs typeface="Segoe UI Variable Text"/>
              </a:rPr>
              <a:t>Strongest Correlations:</a:t>
            </a:r>
          </a:p>
          <a:p>
            <a:pPr marL="685800" indent="-342900">
              <a:lnSpc>
                <a:spcPct val="150000"/>
              </a:lnSpc>
              <a:buAutoNum type="arabicPeriod"/>
            </a:pPr>
            <a:r>
              <a:rPr lang="pt-BR">
                <a:latin typeface="Segoe UI Variable Text"/>
                <a:cs typeface="Segoe UI Variable Text"/>
              </a:rPr>
              <a:t>Ticket price vs Class</a:t>
            </a:r>
          </a:p>
          <a:p>
            <a:pPr marL="685800" indent="-342900">
              <a:lnSpc>
                <a:spcPct val="150000"/>
              </a:lnSpc>
              <a:buAutoNum type="arabicPeriod"/>
            </a:pPr>
            <a:r>
              <a:rPr lang="pt-BR">
                <a:latin typeface="Segoe UI Variable Text"/>
                <a:cs typeface="Segoe UI Variable Text"/>
              </a:rPr>
              <a:t>Gender </a:t>
            </a:r>
            <a:r>
              <a:rPr lang="pt-BR" err="1">
                <a:latin typeface="Segoe UI Variable Text"/>
                <a:cs typeface="Segoe UI Variable Text"/>
              </a:rPr>
              <a:t>vs</a:t>
            </a:r>
            <a:r>
              <a:rPr lang="pt-BR">
                <a:latin typeface="Segoe UI Variable Text"/>
                <a:cs typeface="Segoe UI Variable Text"/>
              </a:rPr>
              <a:t> Survival</a:t>
            </a:r>
          </a:p>
          <a:p>
            <a:pPr marL="685800" indent="-342900">
              <a:lnSpc>
                <a:spcPct val="150000"/>
              </a:lnSpc>
              <a:buAutoNum type="arabicPeriod"/>
            </a:pPr>
            <a:r>
              <a:rPr lang="pt-BR">
                <a:latin typeface="Segoe UI Variable Text"/>
                <a:cs typeface="Segoe UI Variable Text"/>
              </a:rPr>
              <a:t>Sibling/Spouses vs Parents/Children</a:t>
            </a:r>
            <a:endParaRPr lang="pt-BR"/>
          </a:p>
          <a:p>
            <a:pPr marL="342900">
              <a:lnSpc>
                <a:spcPct val="150000"/>
              </a:lnSpc>
              <a:buAutoNum type="arabicPeriod"/>
            </a:pPr>
            <a:endParaRPr lang="pt-BR">
              <a:latin typeface="Segoe UI Variable Text"/>
              <a:cs typeface="Segoe UI Variable Text"/>
            </a:endParaRPr>
          </a:p>
        </p:txBody>
      </p:sp>
      <p:pic>
        <p:nvPicPr>
          <p:cNvPr id="8" name="Imagem 7" descr="Gráfico&#10;&#10;O conteúdo gerado por IA pode estar incorreto.">
            <a:extLst>
              <a:ext uri="{FF2B5EF4-FFF2-40B4-BE49-F238E27FC236}">
                <a16:creationId xmlns:a16="http://schemas.microsoft.com/office/drawing/2014/main" id="{BD19171D-742B-36AB-4D2E-A134A89815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898"/>
          <a:stretch>
            <a:fillRect/>
          </a:stretch>
        </p:blipFill>
        <p:spPr>
          <a:xfrm>
            <a:off x="318842" y="1980343"/>
            <a:ext cx="1184859" cy="4640574"/>
          </a:xfrm>
          <a:prstGeom prst="rect">
            <a:avLst/>
          </a:prstGeom>
        </p:spPr>
      </p:pic>
      <p:pic>
        <p:nvPicPr>
          <p:cNvPr id="10" name="Imagem 9" descr="Gráfico&#10;&#10;O conteúdo gerado por IA pode estar incorreto.">
            <a:extLst>
              <a:ext uri="{FF2B5EF4-FFF2-40B4-BE49-F238E27FC236}">
                <a16:creationId xmlns:a16="http://schemas.microsoft.com/office/drawing/2014/main" id="{F31959DA-2A67-DC66-8FEF-2AC90BBA81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5" t="13796" r="29630" b="-1529"/>
          <a:stretch>
            <a:fillRect/>
          </a:stretch>
        </p:blipFill>
        <p:spPr>
          <a:xfrm>
            <a:off x="1630412" y="1858417"/>
            <a:ext cx="5058258" cy="4744925"/>
          </a:xfrm>
          <a:prstGeom prst="rect">
            <a:avLst/>
          </a:prstGeom>
        </p:spPr>
      </p:pic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63D00841-29B7-A40C-DDC9-1F788C0242FB}"/>
              </a:ext>
            </a:extLst>
          </p:cNvPr>
          <p:cNvSpPr/>
          <p:nvPr/>
        </p:nvSpPr>
        <p:spPr>
          <a:xfrm rot="4800000">
            <a:off x="6815596" y="5899046"/>
            <a:ext cx="227000" cy="71360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E0A2E63C-D709-947A-9E0A-0785D50521A6}"/>
              </a:ext>
            </a:extLst>
          </p:cNvPr>
          <p:cNvSpPr/>
          <p:nvPr/>
        </p:nvSpPr>
        <p:spPr>
          <a:xfrm rot="4800000">
            <a:off x="1763818" y="1566935"/>
            <a:ext cx="227000" cy="71360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456283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ABA008-4DE6-2464-AD3D-87C9AE856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4787" y="1661437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>
                <a:solidFill>
                  <a:srgbClr val="FFFFFF"/>
                </a:solidFill>
              </a:rPr>
              <a:t>STUDY QUESTIONS</a:t>
            </a:r>
            <a:endParaRPr lang="pt-BR">
              <a:ea typeface="+mj-ea"/>
              <a:cs typeface="+mj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FDF4101-DF33-1552-CD02-76BCFD013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79E628FB-DA81-4D2B-86DD-432ED2A29FDE}" type="slidenum">
              <a:rPr lang="en-US" sz="1100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9</a:t>
            </a:fld>
            <a:endParaRPr lang="en-US" sz="1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8936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30A939-0F5A-E319-3B81-E2449FDA3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pic>
        <p:nvPicPr>
          <p:cNvPr id="6" name="Imagem 5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91E5D43B-1BA0-ECC5-0778-7761436B6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99" y="1861276"/>
            <a:ext cx="5109152" cy="3785020"/>
          </a:xfrm>
          <a:prstGeom prst="rect">
            <a:avLst/>
          </a:prstGeom>
        </p:spPr>
      </p:pic>
      <p:pic>
        <p:nvPicPr>
          <p:cNvPr id="7" name="Imagem 6" descr="Gráfico, Gráfico de dispersão&#10;&#10;O conteúdo gerado por IA pode estar incorreto.">
            <a:extLst>
              <a:ext uri="{FF2B5EF4-FFF2-40B4-BE49-F238E27FC236}">
                <a16:creationId xmlns:a16="http://schemas.microsoft.com/office/drawing/2014/main" id="{D5BD16FF-08F4-E1A8-F963-5A0B86BFEA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1310" y="1995557"/>
            <a:ext cx="4544340" cy="3622142"/>
          </a:xfrm>
          <a:prstGeom prst="rect">
            <a:avLst/>
          </a:prstGeom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FCD73A1-1129-A5C1-0051-C408CE845345}"/>
              </a:ext>
            </a:extLst>
          </p:cNvPr>
          <p:cNvSpPr txBox="1"/>
          <p:nvPr/>
        </p:nvSpPr>
        <p:spPr>
          <a:xfrm>
            <a:off x="699714" y="353160"/>
            <a:ext cx="7091300" cy="89858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>
                <a:solidFill>
                  <a:srgbClr val="FFFFFF"/>
                </a:solidFill>
                <a:latin typeface="Segoe UI Variable Text"/>
                <a:ea typeface="+mj-ea"/>
                <a:cs typeface="Segoe UI Variable Text"/>
              </a:rPr>
              <a:t>HOW DOES THE SURVIVAL RATE VARY ACROSS PASSENGERS CLASS?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7459AD8-FA74-51EB-93E1-D6E1D60E1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31079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79E628FB-DA81-4D2B-86DD-432ED2A29FDE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10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" name="Imagem 1" descr="Gráfico, Gráfico de pizza&#10;&#10;O conteúdo gerado por IA pode estar incorreto.">
            <a:extLst>
              <a:ext uri="{FF2B5EF4-FFF2-40B4-BE49-F238E27FC236}">
                <a16:creationId xmlns:a16="http://schemas.microsoft.com/office/drawing/2014/main" id="{F75E9A31-F5CF-6C6C-2940-738C6C98641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4866" r="20917" b="-1084"/>
          <a:stretch>
            <a:fillRect/>
          </a:stretch>
        </p:blipFill>
        <p:spPr>
          <a:xfrm>
            <a:off x="4213" y="1869452"/>
            <a:ext cx="3249653" cy="4477929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856DA82C-B5F7-ECC7-C7A3-9A42DC75BF09}"/>
              </a:ext>
            </a:extLst>
          </p:cNvPr>
          <p:cNvSpPr txBox="1">
            <a:spLocks/>
          </p:cNvSpPr>
          <p:nvPr/>
        </p:nvSpPr>
        <p:spPr>
          <a:xfrm>
            <a:off x="8571507" y="387224"/>
            <a:ext cx="3291839" cy="830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</a:pPr>
            <a:r>
              <a:rPr lang="en-US" sz="17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WHAT IS THE AVERAGE FARE ACROSS PASSENGERS CLASS AND HOW IS IT RELATED WITH AGE ?</a:t>
            </a:r>
            <a:endParaRPr lang="pt-BR" sz="17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CaixaDeTexto 8">
            <a:extLst>
              <a:ext uri="{FF2B5EF4-FFF2-40B4-BE49-F238E27FC236}">
                <a16:creationId xmlns:a16="http://schemas.microsoft.com/office/drawing/2014/main" id="{EAF40F02-B59B-40CE-9944-7E594AA22F5F}"/>
              </a:ext>
            </a:extLst>
          </p:cNvPr>
          <p:cNvSpPr txBox="1"/>
          <p:nvPr/>
        </p:nvSpPr>
        <p:spPr>
          <a:xfrm>
            <a:off x="4240684" y="6183710"/>
            <a:ext cx="5361636" cy="468994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pt-BR" sz="1600" err="1">
                <a:solidFill>
                  <a:srgbClr val="243748"/>
                </a:solidFill>
                <a:latin typeface="Segoe UI Variable Text"/>
                <a:cs typeface="Segoe UI Variable Text"/>
              </a:rPr>
              <a:t>Average</a:t>
            </a:r>
            <a:r>
              <a:rPr lang="pt-BR" sz="1600">
                <a:solidFill>
                  <a:srgbClr val="243748"/>
                </a:solidFill>
                <a:latin typeface="Segoe UI Variable Text"/>
                <a:cs typeface="Segoe UI Variable Text"/>
              </a:rPr>
              <a:t> Ticket </a:t>
            </a:r>
            <a:r>
              <a:rPr lang="pt-BR" sz="1600" err="1">
                <a:solidFill>
                  <a:srgbClr val="243748"/>
                </a:solidFill>
                <a:latin typeface="Segoe UI Variable Text"/>
                <a:cs typeface="Segoe UI Variable Text"/>
              </a:rPr>
              <a:t>Price</a:t>
            </a:r>
            <a:r>
              <a:rPr lang="pt-BR" sz="1600">
                <a:solidFill>
                  <a:srgbClr val="243748"/>
                </a:solidFill>
                <a:latin typeface="Segoe UI Variable Text"/>
                <a:cs typeface="Segoe UI Variable Text"/>
              </a:rPr>
              <a:t> </a:t>
            </a:r>
            <a:r>
              <a:rPr lang="pt-BR" sz="1600" b="1">
                <a:solidFill>
                  <a:srgbClr val="243748"/>
                </a:solidFill>
                <a:latin typeface="Segoe UI Variable Text"/>
                <a:cs typeface="Segoe UI Variable Text"/>
              </a:rPr>
              <a:t>32$  </a:t>
            </a:r>
            <a:r>
              <a:rPr lang="pt-BR" sz="1600">
                <a:solidFill>
                  <a:srgbClr val="243748"/>
                </a:solidFill>
                <a:latin typeface="Segoe UI Variable Text"/>
                <a:cs typeface="Segoe UI Variable Text"/>
              </a:rPr>
              <a:t> Most </a:t>
            </a:r>
            <a:r>
              <a:rPr lang="pt-BR" sz="1600" err="1">
                <a:solidFill>
                  <a:srgbClr val="243748"/>
                </a:solidFill>
                <a:latin typeface="Segoe UI Variable Text"/>
                <a:cs typeface="Segoe UI Variable Text"/>
              </a:rPr>
              <a:t>expensive</a:t>
            </a:r>
            <a:r>
              <a:rPr lang="pt-BR" sz="1600">
                <a:solidFill>
                  <a:srgbClr val="243748"/>
                </a:solidFill>
                <a:latin typeface="Segoe UI Variable Text"/>
                <a:cs typeface="Segoe UI Variable Text"/>
              </a:rPr>
              <a:t> Ticket: </a:t>
            </a:r>
            <a:r>
              <a:rPr lang="pt-BR" sz="1600" b="1">
                <a:solidFill>
                  <a:srgbClr val="243748"/>
                </a:solidFill>
                <a:latin typeface="Segoe UI Variable Text"/>
                <a:cs typeface="Segoe UI Variable Text"/>
              </a:rPr>
              <a:t>512$ </a:t>
            </a:r>
            <a:endParaRPr lang="pt-BR"/>
          </a:p>
        </p:txBody>
      </p:sp>
      <p:pic>
        <p:nvPicPr>
          <p:cNvPr id="20" name="Gráfico 19" descr="Dólar com preenchimento sólido">
            <a:extLst>
              <a:ext uri="{FF2B5EF4-FFF2-40B4-BE49-F238E27FC236}">
                <a16:creationId xmlns:a16="http://schemas.microsoft.com/office/drawing/2014/main" id="{D03BD365-6613-6937-9B38-D3028879EC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07300" y="6201022"/>
            <a:ext cx="435078" cy="42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55013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B0A4F4-1385-FDFA-A81B-37BC91DC7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54172CB-09DD-3235-D893-0A41E6E60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C01FE8-D125-D7D4-DBC3-847FE9FF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19388A-F356-ABFE-7431-859AC2ABE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4562E8-13D9-EC18-ADA2-C0ADF33BB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D2ECF0-0722-28C2-0707-FFC30BCFC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AFF4DDC-FC79-0C0C-17FB-41A4FA5F212E}"/>
              </a:ext>
            </a:extLst>
          </p:cNvPr>
          <p:cNvSpPr txBox="1"/>
          <p:nvPr/>
        </p:nvSpPr>
        <p:spPr>
          <a:xfrm>
            <a:off x="699714" y="353160"/>
            <a:ext cx="7091300" cy="89858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>
                <a:solidFill>
                  <a:srgbClr val="FFFFFF"/>
                </a:solidFill>
                <a:latin typeface="Segoe UI Variable Text"/>
                <a:ea typeface="+mj-ea"/>
                <a:cs typeface="Segoe UI Variable Text"/>
              </a:rPr>
              <a:t>HOW DOES THE SURVIVAL RATE VARY ACROSS PASSENGERS CLASS?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45E8F27-10C5-2183-F777-A94AE1C0B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31079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79E628FB-DA81-4D2B-86DD-432ED2A29FDE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11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B0E1A98-7278-204A-2D2A-21FB2D2E4AD6}"/>
              </a:ext>
            </a:extLst>
          </p:cNvPr>
          <p:cNvSpPr txBox="1">
            <a:spLocks/>
          </p:cNvSpPr>
          <p:nvPr/>
        </p:nvSpPr>
        <p:spPr>
          <a:xfrm>
            <a:off x="8723907" y="539624"/>
            <a:ext cx="3291839" cy="830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en-US" sz="17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IS THERE A CORRELATION BETWEEN TICKET PRICE AND SURVIVAL RATE?</a:t>
            </a:r>
          </a:p>
        </p:txBody>
      </p:sp>
      <p:pic>
        <p:nvPicPr>
          <p:cNvPr id="14" name="Imagem 13" descr="Uma imagem com texto, captura de ecrã, Tipo de letra, número&#10;&#10;Os conteúdos gerados por IA poderão estar incorretos.">
            <a:extLst>
              <a:ext uri="{FF2B5EF4-FFF2-40B4-BE49-F238E27FC236}">
                <a16:creationId xmlns:a16="http://schemas.microsoft.com/office/drawing/2014/main" id="{F0201669-C9CA-D182-EFE7-A78FF28F7E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505" r="4962"/>
          <a:stretch>
            <a:fillRect/>
          </a:stretch>
        </p:blipFill>
        <p:spPr>
          <a:xfrm>
            <a:off x="6096898" y="1620635"/>
            <a:ext cx="5113127" cy="4017490"/>
          </a:xfrm>
          <a:prstGeom prst="rect">
            <a:avLst/>
          </a:prstGeom>
          <a:ln>
            <a:noFill/>
          </a:ln>
        </p:spPr>
      </p:pic>
      <p:sp>
        <p:nvSpPr>
          <p:cNvPr id="5" name="CaixaDeTexto 8">
            <a:extLst>
              <a:ext uri="{FF2B5EF4-FFF2-40B4-BE49-F238E27FC236}">
                <a16:creationId xmlns:a16="http://schemas.microsoft.com/office/drawing/2014/main" id="{2D04343C-B41C-D1DF-C722-048126EA3FB2}"/>
              </a:ext>
            </a:extLst>
          </p:cNvPr>
          <p:cNvSpPr txBox="1"/>
          <p:nvPr/>
        </p:nvSpPr>
        <p:spPr>
          <a:xfrm>
            <a:off x="2386051" y="5634505"/>
            <a:ext cx="7181085" cy="979772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pt-BR" sz="1600" b="1">
                <a:solidFill>
                  <a:srgbClr val="243748"/>
                </a:solidFill>
                <a:latin typeface="Segoe UI Variable Text"/>
                <a:cs typeface="Segoe UI Variable Text"/>
              </a:rPr>
              <a:t>Death rate </a:t>
            </a:r>
            <a:r>
              <a:rPr lang="pt-BR" sz="1600" b="1" err="1">
                <a:solidFill>
                  <a:srgbClr val="243748"/>
                </a:solidFill>
                <a:latin typeface="Segoe UI Variable Text"/>
                <a:cs typeface="Segoe UI Variable Text"/>
              </a:rPr>
              <a:t>by</a:t>
            </a:r>
            <a:r>
              <a:rPr lang="pt-BR" sz="1600" b="1">
                <a:solidFill>
                  <a:srgbClr val="243748"/>
                </a:solidFill>
                <a:latin typeface="Segoe UI Variable Text"/>
                <a:cs typeface="Segoe UI Variable Text"/>
              </a:rPr>
              <a:t> </a:t>
            </a:r>
            <a:r>
              <a:rPr lang="pt-BR" sz="1600" b="1" err="1">
                <a:solidFill>
                  <a:srgbClr val="243748"/>
                </a:solidFill>
                <a:latin typeface="Segoe UI Variable Text"/>
                <a:cs typeface="Segoe UI Variable Text"/>
              </a:rPr>
              <a:t>class</a:t>
            </a:r>
            <a:r>
              <a:rPr lang="pt-BR" sz="1600" b="1">
                <a:solidFill>
                  <a:srgbClr val="243748"/>
                </a:solidFill>
                <a:latin typeface="Segoe UI Variable Text"/>
                <a:cs typeface="Segoe UI Variable Text"/>
              </a:rPr>
              <a:t>:</a:t>
            </a:r>
            <a:endParaRPr lang="pt-PT"/>
          </a:p>
          <a:p>
            <a:pPr>
              <a:lnSpc>
                <a:spcPct val="200000"/>
              </a:lnSpc>
            </a:pPr>
            <a:r>
              <a:rPr lang="pt-BR" sz="1600" i="1" err="1">
                <a:solidFill>
                  <a:srgbClr val="243748"/>
                </a:solidFill>
                <a:latin typeface="Segoe UI Variable Text"/>
                <a:cs typeface="Segoe UI Variable Text"/>
              </a:rPr>
              <a:t>Class</a:t>
            </a:r>
            <a:r>
              <a:rPr lang="pt-BR" sz="1600" i="1">
                <a:solidFill>
                  <a:srgbClr val="243748"/>
                </a:solidFill>
                <a:latin typeface="Segoe UI Variable Text"/>
                <a:cs typeface="Segoe UI Variable Text"/>
              </a:rPr>
              <a:t> 1</a:t>
            </a:r>
            <a:r>
              <a:rPr lang="pt-BR" sz="1600">
                <a:solidFill>
                  <a:srgbClr val="243748"/>
                </a:solidFill>
                <a:latin typeface="Segoe UI Variable Text"/>
                <a:cs typeface="Segoe UI Variable Text"/>
              </a:rPr>
              <a:t> – </a:t>
            </a:r>
            <a:r>
              <a:rPr lang="pt-BR" sz="1600" b="1">
                <a:solidFill>
                  <a:srgbClr val="243748"/>
                </a:solidFill>
                <a:latin typeface="Segoe UI Variable Text"/>
                <a:cs typeface="Segoe UI Variable Text"/>
              </a:rPr>
              <a:t>37%</a:t>
            </a:r>
            <a:r>
              <a:rPr lang="pt-BR" sz="1600">
                <a:solidFill>
                  <a:srgbClr val="243748"/>
                </a:solidFill>
                <a:latin typeface="Segoe UI Variable Text"/>
                <a:cs typeface="Segoe UI Variable Text"/>
              </a:rPr>
              <a:t> Deaths;  </a:t>
            </a:r>
            <a:r>
              <a:rPr lang="pt-BR" sz="1600" i="1" err="1">
                <a:solidFill>
                  <a:srgbClr val="243748"/>
                </a:solidFill>
                <a:latin typeface="Segoe UI Variable Text"/>
                <a:cs typeface="Segoe UI Variable Text"/>
              </a:rPr>
              <a:t>Class</a:t>
            </a:r>
            <a:r>
              <a:rPr lang="pt-BR" sz="1600" i="1">
                <a:solidFill>
                  <a:srgbClr val="243748"/>
                </a:solidFill>
                <a:latin typeface="Segoe UI Variable Text"/>
                <a:cs typeface="Segoe UI Variable Text"/>
              </a:rPr>
              <a:t> 2 </a:t>
            </a:r>
            <a:r>
              <a:rPr lang="pt-BR" sz="1600">
                <a:solidFill>
                  <a:srgbClr val="243748"/>
                </a:solidFill>
                <a:latin typeface="Segoe UI Variable Text"/>
                <a:cs typeface="Segoe UI Variable Text"/>
              </a:rPr>
              <a:t>– </a:t>
            </a:r>
            <a:r>
              <a:rPr lang="pt-BR" sz="1600" b="1">
                <a:solidFill>
                  <a:srgbClr val="243748"/>
                </a:solidFill>
                <a:latin typeface="Segoe UI Variable Text"/>
                <a:cs typeface="Segoe UI Variable Text"/>
              </a:rPr>
              <a:t>53% </a:t>
            </a:r>
            <a:r>
              <a:rPr lang="pt-BR" sz="1600">
                <a:solidFill>
                  <a:srgbClr val="243748"/>
                </a:solidFill>
                <a:latin typeface="Segoe UI Variable Text"/>
                <a:cs typeface="Segoe UI Variable Text"/>
              </a:rPr>
              <a:t>Deaths; </a:t>
            </a:r>
            <a:r>
              <a:rPr lang="pt-BR" sz="1600" i="1" err="1">
                <a:solidFill>
                  <a:srgbClr val="243748"/>
                </a:solidFill>
                <a:latin typeface="Segoe UI Variable Text"/>
                <a:cs typeface="Segoe UI Variable Text"/>
              </a:rPr>
              <a:t>Class</a:t>
            </a:r>
            <a:r>
              <a:rPr lang="pt-BR" sz="1600" i="1">
                <a:solidFill>
                  <a:srgbClr val="243748"/>
                </a:solidFill>
                <a:latin typeface="Segoe UI Variable Text"/>
                <a:cs typeface="Segoe UI Variable Text"/>
              </a:rPr>
              <a:t> 3</a:t>
            </a:r>
            <a:r>
              <a:rPr lang="pt-BR" sz="1600">
                <a:solidFill>
                  <a:srgbClr val="243748"/>
                </a:solidFill>
                <a:latin typeface="Segoe UI Variable Text"/>
                <a:cs typeface="Segoe UI Variable Text"/>
              </a:rPr>
              <a:t> – </a:t>
            </a:r>
            <a:r>
              <a:rPr lang="pt-BR" sz="1600" b="1">
                <a:solidFill>
                  <a:srgbClr val="243748"/>
                </a:solidFill>
                <a:latin typeface="Segoe UI Variable Text"/>
                <a:cs typeface="Segoe UI Variable Text"/>
              </a:rPr>
              <a:t>76% </a:t>
            </a:r>
            <a:r>
              <a:rPr lang="pt-BR" sz="1600">
                <a:solidFill>
                  <a:srgbClr val="243748"/>
                </a:solidFill>
                <a:latin typeface="Segoe UI Variable Text"/>
                <a:cs typeface="Segoe UI Variable Text"/>
              </a:rPr>
              <a:t>Deaths</a:t>
            </a:r>
            <a:endParaRPr lang="pt-BR"/>
          </a:p>
        </p:txBody>
      </p:sp>
      <p:pic>
        <p:nvPicPr>
          <p:cNvPr id="2" name="Imagem 1" descr="Uma imagem com texto, captura de ecrã, diagrama, Tipo de letra&#10;&#10;Os conteúdos gerados por IA poderão estar incorretos.">
            <a:extLst>
              <a:ext uri="{FF2B5EF4-FFF2-40B4-BE49-F238E27FC236}">
                <a16:creationId xmlns:a16="http://schemas.microsoft.com/office/drawing/2014/main" id="{CE9B6CA4-46AC-E1F1-2AD3-00BB319AA8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470" y="1725706"/>
            <a:ext cx="5065059" cy="380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83440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pic>
        <p:nvPicPr>
          <p:cNvPr id="7" name="Imagem 6" descr="Gráfico, Gráfico de pizza&#10;&#10;O conteúdo gerado por IA pode estar incorreto.">
            <a:extLst>
              <a:ext uri="{FF2B5EF4-FFF2-40B4-BE49-F238E27FC236}">
                <a16:creationId xmlns:a16="http://schemas.microsoft.com/office/drawing/2014/main" id="{2A3BD37C-2D3A-1AA2-D309-75F0A8F27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017" y="1442804"/>
            <a:ext cx="7220261" cy="5421441"/>
          </a:xfrm>
          <a:prstGeom prst="rect">
            <a:avLst/>
          </a:prstGeom>
        </p:spPr>
      </p:pic>
      <p:pic>
        <p:nvPicPr>
          <p:cNvPr id="4" name="Imagem 3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1E2E695D-B9F8-C73A-6185-E213AE15DF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415" y="1710906"/>
            <a:ext cx="6527321" cy="4888302"/>
          </a:xfrm>
          <a:prstGeom prst="rect">
            <a:avLst/>
          </a:prstGeom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BE7C38B-E5D6-6154-401A-5AA5CD9910B4}"/>
              </a:ext>
            </a:extLst>
          </p:cNvPr>
          <p:cNvSpPr txBox="1"/>
          <p:nvPr/>
        </p:nvSpPr>
        <p:spPr>
          <a:xfrm>
            <a:off x="699714" y="353160"/>
            <a:ext cx="7091300" cy="89858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defTabSz="914400"/>
            <a:r>
              <a:rPr lang="pt-PT" sz="2800" b="1">
                <a:solidFill>
                  <a:srgbClr val="FFFFFF"/>
                </a:solidFill>
                <a:latin typeface="Segoe UI Variable Text"/>
                <a:ea typeface="+mj-ea"/>
                <a:cs typeface="Segoe UI Variable Text"/>
              </a:rPr>
              <a:t>IS THERE A RELATION BETWEEN SURVIVAL AND FAMILY NUMBER?</a:t>
            </a:r>
            <a:endParaRPr lang="en-US" sz="2800" b="1">
              <a:solidFill>
                <a:srgbClr val="FFFFFF"/>
              </a:solidFill>
              <a:latin typeface="Segoe UI Variable Text"/>
              <a:ea typeface="+mj-ea"/>
              <a:cs typeface="Segoe UI Variable Text"/>
            </a:endParaRP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8F14FD22-C82E-27CA-FA61-1982A636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31079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79E628FB-DA81-4D2B-86DD-432ED2A29FDE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12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9A1D69D-9599-F20F-EDC1-41E88AD8472C}"/>
              </a:ext>
            </a:extLst>
          </p:cNvPr>
          <p:cNvSpPr txBox="1"/>
          <p:nvPr/>
        </p:nvSpPr>
        <p:spPr>
          <a:xfrm>
            <a:off x="9622519" y="210599"/>
            <a:ext cx="2075296" cy="11544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1600" err="1">
                <a:solidFill>
                  <a:srgbClr val="FFFFFF"/>
                </a:solidFill>
                <a:latin typeface="Segoe UI Variable Text"/>
                <a:cs typeface="Segoe UI Variable Text"/>
              </a:rPr>
              <a:t>Alone</a:t>
            </a:r>
            <a:r>
              <a:rPr lang="pt-BR" sz="1600">
                <a:solidFill>
                  <a:srgbClr val="FFFFFF"/>
                </a:solidFill>
                <a:latin typeface="Segoe UI Variable Text"/>
                <a:cs typeface="Segoe UI Variable Text"/>
              </a:rPr>
              <a:t>         1</a:t>
            </a:r>
            <a:endParaRPr lang="pt-BR">
              <a:solidFill>
                <a:srgbClr val="FFFFFF"/>
              </a:solidFill>
              <a:latin typeface="Aptos" panose="02110004020202020204"/>
              <a:cs typeface="Segoe UI Variable Text"/>
            </a:endParaRPr>
          </a:p>
          <a:p>
            <a:pPr algn="ctr">
              <a:lnSpc>
                <a:spcPct val="150000"/>
              </a:lnSpc>
            </a:pPr>
            <a:r>
              <a:rPr lang="pt-BR" sz="1600" err="1">
                <a:solidFill>
                  <a:srgbClr val="FFFFFF"/>
                </a:solidFill>
                <a:latin typeface="Segoe UI Variable Text"/>
                <a:cs typeface="Segoe UI Variable Text"/>
              </a:rPr>
              <a:t>Small</a:t>
            </a:r>
            <a:r>
              <a:rPr lang="pt-BR" sz="1600">
                <a:solidFill>
                  <a:srgbClr val="FFFFFF"/>
                </a:solidFill>
                <a:latin typeface="Segoe UI Variable Text"/>
                <a:cs typeface="Segoe UI Variable Text"/>
              </a:rPr>
              <a:t> </a:t>
            </a:r>
            <a:r>
              <a:rPr lang="pt-BR" sz="1600" err="1">
                <a:solidFill>
                  <a:srgbClr val="FFFFFF"/>
                </a:solidFill>
                <a:latin typeface="Segoe UI Variable Text"/>
                <a:cs typeface="Segoe UI Variable Text"/>
              </a:rPr>
              <a:t>family</a:t>
            </a:r>
            <a:r>
              <a:rPr lang="pt-BR" sz="1600">
                <a:solidFill>
                  <a:srgbClr val="FFFFFF"/>
                </a:solidFill>
                <a:latin typeface="Segoe UI Variable Text"/>
                <a:cs typeface="Segoe UI Variable Text"/>
              </a:rPr>
              <a:t> 2 - 4 Large </a:t>
            </a:r>
            <a:r>
              <a:rPr lang="pt-BR" sz="1600" err="1">
                <a:solidFill>
                  <a:srgbClr val="FFFFFF"/>
                </a:solidFill>
                <a:latin typeface="Segoe UI Variable Text"/>
                <a:cs typeface="Segoe UI Variable Text"/>
              </a:rPr>
              <a:t>family</a:t>
            </a:r>
            <a:r>
              <a:rPr lang="pt-BR" sz="1600">
                <a:solidFill>
                  <a:srgbClr val="FFFFFF"/>
                </a:solidFill>
                <a:latin typeface="Segoe UI Variable Text"/>
                <a:cs typeface="Segoe UI Variable Text"/>
              </a:rPr>
              <a:t>  &gt;5</a:t>
            </a:r>
            <a:endParaRPr lang="pt-BR">
              <a:solidFill>
                <a:srgbClr val="FFFFFF"/>
              </a:solidFill>
              <a:latin typeface="Aptos" panose="02110004020202020204"/>
              <a:cs typeface="Segoe UI Variable Text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8C29EE0-3FF7-C2FD-F2AB-03D2D8385D8B}"/>
              </a:ext>
            </a:extLst>
          </p:cNvPr>
          <p:cNvSpPr txBox="1"/>
          <p:nvPr/>
        </p:nvSpPr>
        <p:spPr>
          <a:xfrm>
            <a:off x="8225544" y="615292"/>
            <a:ext cx="139585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b="1">
                <a:solidFill>
                  <a:srgbClr val="FFFFFF"/>
                </a:solidFill>
                <a:latin typeface="Segoe UI Variable Text"/>
                <a:cs typeface="Segoe UI Variable Text"/>
              </a:rPr>
              <a:t>Family Size:</a:t>
            </a:r>
            <a:endParaRPr lang="pt-B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76971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2BC475-B6DF-98F5-182A-2B7FA4674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0522D8-A069-2BCC-B54D-4308B55B73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01BF21-F3D3-DC6D-2E3E-6397E44A83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2EBBD7-F207-BFF9-4438-E6FA8AD97F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2D056D-4773-A53B-DB60-F319407F9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9E628FB-DA81-4D2B-86DD-432ED2A29FDE}" type="slidenum">
              <a:rPr lang="pt-PT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13</a:t>
            </a:fld>
            <a:endParaRPr lang="pt-PT" sz="1100">
              <a:solidFill>
                <a:srgbClr val="FFFFFF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897C703-0731-0F30-0B37-50DF8835F7FC}"/>
              </a:ext>
            </a:extLst>
          </p:cNvPr>
          <p:cNvSpPr txBox="1"/>
          <p:nvPr/>
        </p:nvSpPr>
        <p:spPr>
          <a:xfrm>
            <a:off x="1307883" y="177472"/>
            <a:ext cx="1080394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pt-PT" sz="2400" b="1">
                <a:solidFill>
                  <a:srgbClr val="395961"/>
                </a:solidFill>
                <a:latin typeface="Segoe UI Variable Text"/>
                <a:ea typeface="+mn-lt"/>
                <a:cs typeface="Segoe UI Variable Text"/>
              </a:rPr>
              <a:t>IS THERE A RELATION BETWEEN SURVIVAL AND FAMILY NUMBER?</a:t>
            </a:r>
          </a:p>
          <a:p>
            <a:pPr algn="r"/>
            <a:endParaRPr lang="pt-PT" sz="2400" b="1">
              <a:solidFill>
                <a:schemeClr val="accent5">
                  <a:lumMod val="49000"/>
                </a:schemeClr>
              </a:solidFill>
              <a:latin typeface="Segoe UI Variable Text"/>
              <a:cs typeface="Segoe UI Variable Text"/>
            </a:endParaRPr>
          </a:p>
        </p:txBody>
      </p:sp>
      <p:pic>
        <p:nvPicPr>
          <p:cNvPr id="2" name="Imagem 1" descr="Gráfico, Histograma&#10;&#10;O conteúdo gerado por IA pode estar incorreto.">
            <a:extLst>
              <a:ext uri="{FF2B5EF4-FFF2-40B4-BE49-F238E27FC236}">
                <a16:creationId xmlns:a16="http://schemas.microsoft.com/office/drawing/2014/main" id="{5ADF5A5A-695C-0FEC-3323-106758B1D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9474"/>
            <a:ext cx="6870493" cy="5146624"/>
          </a:xfrm>
          <a:prstGeom prst="rect">
            <a:avLst/>
          </a:prstGeom>
        </p:spPr>
      </p:pic>
      <p:pic>
        <p:nvPicPr>
          <p:cNvPr id="3" name="Imagem 2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645BEED6-0DE5-B815-59A5-90093B9A86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374" r="8687"/>
          <a:stretch>
            <a:fillRect/>
          </a:stretch>
        </p:blipFill>
        <p:spPr>
          <a:xfrm>
            <a:off x="6412435" y="981989"/>
            <a:ext cx="5697535" cy="4781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92986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12393A-E1FE-24FC-5F4E-DD1F89CD3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E18D3D8-DF77-2DD4-5881-684E8CC8B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pic>
        <p:nvPicPr>
          <p:cNvPr id="5" name="Imagem 4" descr="Gráfico, Gráfico de pizza&#10;&#10;O conteúdo gerado por IA pode estar incorreto.">
            <a:extLst>
              <a:ext uri="{FF2B5EF4-FFF2-40B4-BE49-F238E27FC236}">
                <a16:creationId xmlns:a16="http://schemas.microsoft.com/office/drawing/2014/main" id="{B93819FC-8C4E-A362-CE3E-211B6FB008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47" t="4317" r="10896" b="11511"/>
          <a:stretch>
            <a:fillRect/>
          </a:stretch>
        </p:blipFill>
        <p:spPr>
          <a:xfrm>
            <a:off x="288965" y="2004322"/>
            <a:ext cx="5018942" cy="4419293"/>
          </a:xfrm>
          <a:prstGeom prst="rect">
            <a:avLst/>
          </a:prstGeom>
          <a:ln>
            <a:noFill/>
          </a:ln>
        </p:spPr>
      </p:pic>
      <p:pic>
        <p:nvPicPr>
          <p:cNvPr id="6" name="Imagem 5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0BBE08D9-056F-8881-BE94-DCD9FFA18B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9016" y="1236687"/>
            <a:ext cx="7107837" cy="55213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2F82E70-87F0-7BC1-B2EB-88E19BDEB2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312320-C58E-762B-8413-6898B74A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AB0E85-B4A5-A94A-2A62-4DD01EECF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28D4F7-153E-E8C3-4A37-517C7F179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ED97C34-5193-E98C-05C7-458B07BBB5E6}"/>
              </a:ext>
            </a:extLst>
          </p:cNvPr>
          <p:cNvSpPr txBox="1"/>
          <p:nvPr/>
        </p:nvSpPr>
        <p:spPr>
          <a:xfrm>
            <a:off x="282995" y="341254"/>
            <a:ext cx="7091300" cy="89858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400"/>
            <a:r>
              <a:rPr lang="pt-PT" sz="2800" b="1">
                <a:solidFill>
                  <a:srgbClr val="FFFFFF"/>
                </a:solidFill>
                <a:latin typeface="Segoe UI Variable Text"/>
                <a:ea typeface="+mj-ea"/>
                <a:cs typeface="Segoe UI Variable Text"/>
              </a:rPr>
              <a:t>WHAT IS THE SURVIVAL RATE BY AGE GROUP?</a:t>
            </a:r>
            <a:endParaRPr lang="pt-BR">
              <a:ea typeface="+mj-ea"/>
            </a:endParaRP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9DE1FA6-1AAB-F1DD-DE66-548C70245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31079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79E628FB-DA81-4D2B-86DD-432ED2A29FDE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14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47C8CEC0-016B-7F90-B13E-661F56968784}"/>
              </a:ext>
            </a:extLst>
          </p:cNvPr>
          <p:cNvGrpSpPr/>
          <p:nvPr/>
        </p:nvGrpSpPr>
        <p:grpSpPr>
          <a:xfrm>
            <a:off x="8266448" y="120545"/>
            <a:ext cx="3657656" cy="1323439"/>
            <a:chOff x="8266448" y="120545"/>
            <a:chExt cx="3657656" cy="1323439"/>
          </a:xfrm>
        </p:grpSpPr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AB60B5F7-97F7-977E-6762-2F97BDE2939A}"/>
                </a:ext>
              </a:extLst>
            </p:cNvPr>
            <p:cNvSpPr txBox="1"/>
            <p:nvPr/>
          </p:nvSpPr>
          <p:spPr>
            <a:xfrm>
              <a:off x="9671338" y="120545"/>
              <a:ext cx="2252766" cy="1323439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pt-BR" sz="1600" err="1">
                  <a:solidFill>
                    <a:srgbClr val="FFFFFF"/>
                  </a:solidFill>
                  <a:latin typeface="Segoe UI Variable Text"/>
                  <a:cs typeface="Segoe UI Variable Text"/>
                </a:rPr>
                <a:t>Child</a:t>
              </a:r>
              <a:r>
                <a:rPr lang="pt-BR" sz="1600">
                  <a:solidFill>
                    <a:srgbClr val="FFFFFF"/>
                  </a:solidFill>
                  <a:latin typeface="Segoe UI Variable Text"/>
                  <a:cs typeface="Segoe UI Variable Text"/>
                </a:rPr>
                <a:t>        &lt; 12</a:t>
              </a:r>
              <a:endParaRPr lang="pt-BR">
                <a:solidFill>
                  <a:srgbClr val="FFFFFF"/>
                </a:solidFill>
              </a:endParaRPr>
            </a:p>
            <a:p>
              <a:r>
                <a:rPr lang="pt-BR" sz="1600">
                  <a:solidFill>
                    <a:srgbClr val="FFFFFF"/>
                  </a:solidFill>
                  <a:latin typeface="Segoe UI Variable Text"/>
                  <a:cs typeface="Segoe UI Variable Text"/>
                </a:rPr>
                <a:t>Teenager   13 - 18</a:t>
              </a:r>
            </a:p>
            <a:p>
              <a:r>
                <a:rPr lang="pt-BR" sz="1600">
                  <a:solidFill>
                    <a:srgbClr val="FFFFFF"/>
                  </a:solidFill>
                  <a:latin typeface="Segoe UI Variable Text"/>
                  <a:cs typeface="Segoe UI Variable Text"/>
                </a:rPr>
                <a:t>Young </a:t>
              </a:r>
              <a:r>
                <a:rPr lang="pt-BR" sz="1600" err="1">
                  <a:solidFill>
                    <a:srgbClr val="FFFFFF"/>
                  </a:solidFill>
                  <a:latin typeface="Segoe UI Variable Text"/>
                  <a:cs typeface="Segoe UI Variable Text"/>
                </a:rPr>
                <a:t>Adult</a:t>
              </a:r>
              <a:r>
                <a:rPr lang="pt-BR" sz="1600">
                  <a:solidFill>
                    <a:srgbClr val="FFFFFF"/>
                  </a:solidFill>
                  <a:latin typeface="Segoe UI Variable Text"/>
                  <a:cs typeface="Segoe UI Variable Text"/>
                </a:rPr>
                <a:t>   19 - 30</a:t>
              </a:r>
            </a:p>
            <a:p>
              <a:r>
                <a:rPr lang="pt-BR" sz="1600" err="1">
                  <a:solidFill>
                    <a:srgbClr val="FFFFFF"/>
                  </a:solidFill>
                  <a:latin typeface="Segoe UI Variable Text"/>
                  <a:cs typeface="Segoe UI Variable Text"/>
                </a:rPr>
                <a:t>Adult</a:t>
              </a:r>
              <a:r>
                <a:rPr lang="pt-BR" sz="1600">
                  <a:solidFill>
                    <a:srgbClr val="FFFFFF"/>
                  </a:solidFill>
                  <a:latin typeface="Segoe UI Variable Text"/>
                  <a:cs typeface="Segoe UI Variable Text"/>
                </a:rPr>
                <a:t>      31 - 50</a:t>
              </a:r>
            </a:p>
            <a:p>
              <a:r>
                <a:rPr lang="pt-BR" sz="1600" err="1">
                  <a:solidFill>
                    <a:srgbClr val="FFFFFF"/>
                  </a:solidFill>
                  <a:latin typeface="Segoe UI Variable Text"/>
                  <a:cs typeface="Segoe UI Variable Text"/>
                </a:rPr>
                <a:t>Senior</a:t>
              </a:r>
              <a:r>
                <a:rPr lang="pt-BR" sz="1600">
                  <a:solidFill>
                    <a:srgbClr val="FFFFFF"/>
                  </a:solidFill>
                  <a:latin typeface="Segoe UI Variable Text"/>
                  <a:cs typeface="Segoe UI Variable Text"/>
                </a:rPr>
                <a:t>      &gt; 51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C1A812F6-685D-D4EE-D985-4A20604BD19B}"/>
                </a:ext>
              </a:extLst>
            </p:cNvPr>
            <p:cNvSpPr txBox="1"/>
            <p:nvPr/>
          </p:nvSpPr>
          <p:spPr>
            <a:xfrm>
              <a:off x="8266448" y="611993"/>
              <a:ext cx="1395855" cy="33855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pt-BR" sz="1600" b="1">
                  <a:solidFill>
                    <a:srgbClr val="FFFFFF"/>
                  </a:solidFill>
                  <a:latin typeface="Segoe UI Variable Text"/>
                  <a:cs typeface="Segoe UI Variable Text"/>
                </a:rPr>
                <a:t>Age </a:t>
              </a:r>
              <a:r>
                <a:rPr lang="pt-BR" sz="1600" b="1" err="1">
                  <a:solidFill>
                    <a:srgbClr val="FFFFFF"/>
                  </a:solidFill>
                  <a:latin typeface="Segoe UI Variable Text"/>
                  <a:cs typeface="Segoe UI Variable Text"/>
                </a:rPr>
                <a:t>Groups</a:t>
              </a:r>
              <a:r>
                <a:rPr lang="pt-BR" sz="1600" b="1">
                  <a:solidFill>
                    <a:srgbClr val="FFFFFF"/>
                  </a:solidFill>
                  <a:latin typeface="Segoe UI Variable Text"/>
                  <a:cs typeface="Segoe UI Variable Text"/>
                </a:rPr>
                <a:t>:</a:t>
              </a:r>
              <a:endParaRPr lang="pt-BR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7231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0F91D8-D650-05B3-19BC-37A9C7E42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3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em 9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858931A0-F472-7410-DDC6-AC18B727C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34" y="3532"/>
            <a:ext cx="11892198" cy="5626025"/>
          </a:xfrm>
          <a:prstGeom prst="rect">
            <a:avLst/>
          </a:prstGeom>
        </p:spPr>
      </p:pic>
      <p:sp>
        <p:nvSpPr>
          <p:cNvPr id="12" name="Rectangle 15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7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CCFADAA-3B21-C62D-2F6D-66C178531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5490971"/>
            <a:ext cx="6962072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IS THE SURVIVAL RATE BY AGE GROUP?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F597BC3-E84C-F522-3393-078030601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79E628FB-DA81-4D2B-86DD-432ED2A29FDE}" type="slidenum">
              <a:rPr lang="en-US" sz="1100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15</a:t>
            </a:fld>
            <a:endParaRPr lang="en-US" sz="1100">
              <a:solidFill>
                <a:srgbClr val="FFFFFF"/>
              </a:solidFill>
            </a:endParaRP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192B5859-94A1-CCC6-7080-6C9DDA651979}"/>
              </a:ext>
            </a:extLst>
          </p:cNvPr>
          <p:cNvGrpSpPr/>
          <p:nvPr/>
        </p:nvGrpSpPr>
        <p:grpSpPr>
          <a:xfrm>
            <a:off x="8278738" y="5417674"/>
            <a:ext cx="3657656" cy="1323439"/>
            <a:chOff x="8266448" y="120545"/>
            <a:chExt cx="3657656" cy="1323439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5B7E647D-272E-FD7B-DADE-280F182902EB}"/>
                </a:ext>
              </a:extLst>
            </p:cNvPr>
            <p:cNvSpPr txBox="1"/>
            <p:nvPr/>
          </p:nvSpPr>
          <p:spPr>
            <a:xfrm>
              <a:off x="9671338" y="120545"/>
              <a:ext cx="2252766" cy="1323439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pt-BR" sz="1600" err="1">
                  <a:solidFill>
                    <a:srgbClr val="FFFFFF"/>
                  </a:solidFill>
                  <a:latin typeface="Segoe UI Variable Text"/>
                  <a:cs typeface="Segoe UI Variable Text"/>
                </a:rPr>
                <a:t>Child</a:t>
              </a:r>
              <a:r>
                <a:rPr lang="pt-BR" sz="1600">
                  <a:solidFill>
                    <a:srgbClr val="FFFFFF"/>
                  </a:solidFill>
                  <a:latin typeface="Segoe UI Variable Text"/>
                  <a:cs typeface="Segoe UI Variable Text"/>
                </a:rPr>
                <a:t>        &lt; 12</a:t>
              </a:r>
              <a:endParaRPr lang="pt-BR">
                <a:solidFill>
                  <a:srgbClr val="FFFFFF"/>
                </a:solidFill>
              </a:endParaRPr>
            </a:p>
            <a:p>
              <a:r>
                <a:rPr lang="pt-BR" sz="1600">
                  <a:solidFill>
                    <a:srgbClr val="FFFFFF"/>
                  </a:solidFill>
                  <a:latin typeface="Segoe UI Variable Text"/>
                  <a:cs typeface="Segoe UI Variable Text"/>
                </a:rPr>
                <a:t>Teenager   13 - 18</a:t>
              </a:r>
            </a:p>
            <a:p>
              <a:r>
                <a:rPr lang="pt-BR" sz="1600">
                  <a:solidFill>
                    <a:srgbClr val="FFFFFF"/>
                  </a:solidFill>
                  <a:latin typeface="Segoe UI Variable Text"/>
                  <a:cs typeface="Segoe UI Variable Text"/>
                </a:rPr>
                <a:t>Young </a:t>
              </a:r>
              <a:r>
                <a:rPr lang="pt-BR" sz="1600" err="1">
                  <a:solidFill>
                    <a:srgbClr val="FFFFFF"/>
                  </a:solidFill>
                  <a:latin typeface="Segoe UI Variable Text"/>
                  <a:cs typeface="Segoe UI Variable Text"/>
                </a:rPr>
                <a:t>Adult</a:t>
              </a:r>
              <a:r>
                <a:rPr lang="pt-BR" sz="1600">
                  <a:solidFill>
                    <a:srgbClr val="FFFFFF"/>
                  </a:solidFill>
                  <a:latin typeface="Segoe UI Variable Text"/>
                  <a:cs typeface="Segoe UI Variable Text"/>
                </a:rPr>
                <a:t>   19 - 30</a:t>
              </a:r>
            </a:p>
            <a:p>
              <a:r>
                <a:rPr lang="pt-BR" sz="1600" err="1">
                  <a:solidFill>
                    <a:srgbClr val="FFFFFF"/>
                  </a:solidFill>
                  <a:latin typeface="Segoe UI Variable Text"/>
                  <a:cs typeface="Segoe UI Variable Text"/>
                </a:rPr>
                <a:t>Adult</a:t>
              </a:r>
              <a:r>
                <a:rPr lang="pt-BR" sz="1600">
                  <a:solidFill>
                    <a:srgbClr val="FFFFFF"/>
                  </a:solidFill>
                  <a:latin typeface="Segoe UI Variable Text"/>
                  <a:cs typeface="Segoe UI Variable Text"/>
                </a:rPr>
                <a:t>      31 - 50</a:t>
              </a:r>
            </a:p>
            <a:p>
              <a:r>
                <a:rPr lang="pt-BR" sz="1600" err="1">
                  <a:solidFill>
                    <a:srgbClr val="FFFFFF"/>
                  </a:solidFill>
                  <a:latin typeface="Segoe UI Variable Text"/>
                  <a:cs typeface="Segoe UI Variable Text"/>
                </a:rPr>
                <a:t>Senior</a:t>
              </a:r>
              <a:r>
                <a:rPr lang="pt-BR" sz="1600">
                  <a:solidFill>
                    <a:srgbClr val="FFFFFF"/>
                  </a:solidFill>
                  <a:latin typeface="Segoe UI Variable Text"/>
                  <a:cs typeface="Segoe UI Variable Text"/>
                </a:rPr>
                <a:t>      &gt; 51</a:t>
              </a: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E0215865-175E-38F7-2D38-EF36EE872903}"/>
                </a:ext>
              </a:extLst>
            </p:cNvPr>
            <p:cNvSpPr txBox="1"/>
            <p:nvPr/>
          </p:nvSpPr>
          <p:spPr>
            <a:xfrm>
              <a:off x="8266448" y="611993"/>
              <a:ext cx="1395855" cy="33855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pt-BR" sz="1600" b="1">
                  <a:solidFill>
                    <a:srgbClr val="FFFFFF"/>
                  </a:solidFill>
                  <a:latin typeface="Segoe UI Variable Text"/>
                  <a:cs typeface="Segoe UI Variable Text"/>
                </a:rPr>
                <a:t>Age </a:t>
              </a:r>
              <a:r>
                <a:rPr lang="pt-BR" sz="1600" b="1" err="1">
                  <a:solidFill>
                    <a:srgbClr val="FFFFFF"/>
                  </a:solidFill>
                  <a:latin typeface="Segoe UI Variable Text"/>
                  <a:cs typeface="Segoe UI Variable Text"/>
                </a:rPr>
                <a:t>Groups</a:t>
              </a:r>
              <a:r>
                <a:rPr lang="pt-BR" sz="1600" b="1">
                  <a:solidFill>
                    <a:srgbClr val="FFFFFF"/>
                  </a:solidFill>
                  <a:latin typeface="Segoe UI Variable Text"/>
                  <a:cs typeface="Segoe UI Variable Text"/>
                </a:rPr>
                <a:t>:</a:t>
              </a:r>
              <a:endParaRPr lang="pt-BR">
                <a:solidFill>
                  <a:srgbClr val="FFFFFF"/>
                </a:solidFill>
              </a:endParaRPr>
            </a:p>
          </p:txBody>
        </p:sp>
      </p:grpSp>
      <p:sp>
        <p:nvSpPr>
          <p:cNvPr id="14" name="Retângulo 13">
            <a:extLst>
              <a:ext uri="{FF2B5EF4-FFF2-40B4-BE49-F238E27FC236}">
                <a16:creationId xmlns:a16="http://schemas.microsoft.com/office/drawing/2014/main" id="{6AD0E92D-4150-6BA8-AB75-96D56B55829B}"/>
              </a:ext>
            </a:extLst>
          </p:cNvPr>
          <p:cNvSpPr/>
          <p:nvPr/>
        </p:nvSpPr>
        <p:spPr>
          <a:xfrm>
            <a:off x="11231714" y="2306294"/>
            <a:ext cx="9144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6" name="Imagem 15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9440222D-6EB0-AD96-6BE4-D61603A5AB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923" t="2049" r="279" b="82086"/>
          <a:stretch>
            <a:fillRect/>
          </a:stretch>
        </p:blipFill>
        <p:spPr>
          <a:xfrm>
            <a:off x="10105869" y="281066"/>
            <a:ext cx="1804210" cy="96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93789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CC283D5-1438-698C-AD0A-B2A7B3DB6221}"/>
              </a:ext>
            </a:extLst>
          </p:cNvPr>
          <p:cNvSpPr txBox="1"/>
          <p:nvPr/>
        </p:nvSpPr>
        <p:spPr>
          <a:xfrm>
            <a:off x="1157613" y="2821829"/>
            <a:ext cx="3255104" cy="120026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3200" b="1">
                <a:solidFill>
                  <a:srgbClr val="FFFFFF"/>
                </a:solidFill>
                <a:latin typeface="Segoe UI Variable Text"/>
                <a:cs typeface="Segoe UI Variable Text"/>
              </a:rPr>
              <a:t>CONCLUSIONS</a:t>
            </a:r>
            <a:endParaRPr lang="pt-BR" sz="3200" b="1">
              <a:solidFill>
                <a:srgbClr val="FFFFFF"/>
              </a:solidFill>
              <a:latin typeface="Segoe UI Variable Text"/>
              <a:cs typeface="Segoe UI Variable Text"/>
            </a:endParaRP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06704F1D-8AD0-FD36-0A8E-9A82B0345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79E628FB-DA81-4D2B-86DD-432ED2A29FDE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16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B0C9BC7-9477-E9D0-E2AC-4FADB1636605}"/>
              </a:ext>
            </a:extLst>
          </p:cNvPr>
          <p:cNvSpPr txBox="1"/>
          <p:nvPr/>
        </p:nvSpPr>
        <p:spPr>
          <a:xfrm>
            <a:off x="5614000" y="531375"/>
            <a:ext cx="6294809" cy="56114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571500" indent="-342900">
              <a:lnSpc>
                <a:spcPct val="200000"/>
              </a:lnSpc>
              <a:buFont typeface="Arial"/>
              <a:buChar char="•"/>
            </a:pPr>
            <a:r>
              <a:rPr lang="pt-PT" sz="2000" dirty="0" err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Of</a:t>
            </a:r>
            <a:r>
              <a:rPr lang="pt-PT" sz="2000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 a total 891 </a:t>
            </a:r>
            <a:r>
              <a:rPr lang="pt-PT" sz="2000" dirty="0" err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passengers</a:t>
            </a:r>
            <a:r>
              <a:rPr lang="pt-PT" sz="2000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, </a:t>
            </a:r>
            <a:r>
              <a:rPr lang="pt-PT" sz="2000" b="1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62% </a:t>
            </a:r>
            <a:r>
              <a:rPr lang="pt-PT" sz="2000" b="1" dirty="0" err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died</a:t>
            </a:r>
            <a:endParaRPr lang="pt-PT" sz="2000" dirty="0" err="1">
              <a:solidFill>
                <a:schemeClr val="bg2">
                  <a:lumMod val="25000"/>
                </a:schemeClr>
              </a:solidFill>
              <a:latin typeface="Segoe UI Variable Text"/>
              <a:cs typeface="Segoe UI Variable Text"/>
            </a:endParaRPr>
          </a:p>
          <a:p>
            <a:pPr marL="571500" indent="-342900">
              <a:lnSpc>
                <a:spcPct val="200000"/>
              </a:lnSpc>
              <a:buFont typeface="Arial"/>
              <a:buChar char="•"/>
            </a:pPr>
            <a:r>
              <a:rPr lang="pt-PT" sz="2000" b="1" dirty="0" err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Survival</a:t>
            </a:r>
            <a:r>
              <a:rPr lang="pt-PT" sz="2000" b="1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 rate</a:t>
            </a:r>
            <a:r>
              <a:rPr lang="pt-PT" sz="2000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:</a:t>
            </a:r>
          </a:p>
          <a:p>
            <a:pPr marL="1028700" lvl="1" indent="-342900">
              <a:lnSpc>
                <a:spcPct val="150000"/>
              </a:lnSpc>
              <a:buFont typeface="Arial"/>
              <a:buChar char="•"/>
            </a:pPr>
            <a:r>
              <a:rPr lang="pt-PT" b="1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1/5 </a:t>
            </a:r>
            <a:r>
              <a:rPr lang="pt-PT" b="1" dirty="0" err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men</a:t>
            </a:r>
            <a:r>
              <a:rPr lang="pt-PT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 </a:t>
            </a:r>
            <a:r>
              <a:rPr lang="pt-PT" dirty="0" err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survived</a:t>
            </a:r>
            <a:endParaRPr lang="pt-PT" dirty="0">
              <a:solidFill>
                <a:schemeClr val="bg2">
                  <a:lumMod val="25000"/>
                </a:schemeClr>
              </a:solidFill>
              <a:latin typeface="Segoe UI Variable Text"/>
              <a:cs typeface="Segoe UI Variable Text"/>
            </a:endParaRPr>
          </a:p>
          <a:p>
            <a:pPr marL="1028700" lvl="1" indent="-342900">
              <a:lnSpc>
                <a:spcPct val="150000"/>
              </a:lnSpc>
              <a:buFont typeface="Arial"/>
              <a:buChar char="•"/>
            </a:pPr>
            <a:r>
              <a:rPr lang="pt-PT" b="1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3/4 </a:t>
            </a:r>
            <a:r>
              <a:rPr lang="pt-PT" b="1" err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women</a:t>
            </a:r>
            <a:r>
              <a:rPr lang="pt-PT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 </a:t>
            </a:r>
            <a:r>
              <a:rPr lang="pt-PT" err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survived</a:t>
            </a:r>
            <a:endParaRPr lang="pt-PT">
              <a:solidFill>
                <a:schemeClr val="bg2">
                  <a:lumMod val="25000"/>
                </a:schemeClr>
              </a:solidFill>
              <a:latin typeface="Segoe UI Variable Text"/>
              <a:cs typeface="Segoe UI Variable Text"/>
            </a:endParaRPr>
          </a:p>
          <a:p>
            <a:pPr marL="571500" indent="-342900">
              <a:lnSpc>
                <a:spcPct val="200000"/>
              </a:lnSpc>
              <a:buFont typeface="Arial"/>
              <a:buChar char="•"/>
            </a:pPr>
            <a:r>
              <a:rPr lang="pt-PT" sz="2000" b="1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"</a:t>
            </a:r>
            <a:r>
              <a:rPr lang="pt-PT" sz="2000" b="1" i="1" dirty="0" err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Women</a:t>
            </a:r>
            <a:r>
              <a:rPr lang="pt-PT" sz="2000" b="1" i="1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 </a:t>
            </a:r>
            <a:r>
              <a:rPr lang="pt-PT" sz="2000" b="1" i="1" dirty="0" err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and</a:t>
            </a:r>
            <a:r>
              <a:rPr lang="pt-PT" sz="2000" b="1" i="1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 </a:t>
            </a:r>
            <a:r>
              <a:rPr lang="pt-PT" sz="2000" b="1" i="1" dirty="0" err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children</a:t>
            </a:r>
            <a:r>
              <a:rPr lang="pt-PT" sz="2000" b="1" i="1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 </a:t>
            </a:r>
            <a:r>
              <a:rPr lang="pt-PT" sz="2000" b="1" i="1" dirty="0" err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first</a:t>
            </a:r>
            <a:r>
              <a:rPr lang="pt-PT" sz="2000" b="1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"</a:t>
            </a:r>
            <a:r>
              <a:rPr lang="pt-PT" sz="2000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 </a:t>
            </a:r>
            <a:r>
              <a:rPr lang="pt-PT" sz="2000" dirty="0" err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principle</a:t>
            </a:r>
            <a:r>
              <a:rPr lang="pt-PT" sz="2000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:</a:t>
            </a:r>
            <a:endParaRPr lang="pt-BR" sz="2000" dirty="0">
              <a:solidFill>
                <a:schemeClr val="bg2">
                  <a:lumMod val="25000"/>
                </a:schemeClr>
              </a:solidFill>
              <a:latin typeface="Segoe UI Variable Text"/>
              <a:cs typeface="Segoe UI Variable Text"/>
            </a:endParaRPr>
          </a:p>
          <a:p>
            <a:pPr marL="1028700" lvl="1" indent="-342900">
              <a:lnSpc>
                <a:spcPct val="150000"/>
              </a:lnSpc>
              <a:buFont typeface="Arial"/>
              <a:buChar char="•"/>
            </a:pPr>
            <a:r>
              <a:rPr lang="pt-PT" b="1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58%</a:t>
            </a:r>
            <a:r>
              <a:rPr lang="pt-PT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 </a:t>
            </a:r>
            <a:r>
              <a:rPr lang="pt-PT" dirty="0" err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children</a:t>
            </a:r>
            <a:r>
              <a:rPr lang="pt-PT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 </a:t>
            </a:r>
            <a:r>
              <a:rPr lang="pt-PT" dirty="0" err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saved</a:t>
            </a:r>
            <a:endParaRPr lang="pt-PT" dirty="0">
              <a:solidFill>
                <a:schemeClr val="bg2">
                  <a:lumMod val="25000"/>
                </a:schemeClr>
              </a:solidFill>
              <a:latin typeface="Segoe UI Variable Text"/>
              <a:cs typeface="Segoe UI Variable Text"/>
            </a:endParaRPr>
          </a:p>
          <a:p>
            <a:pPr marL="1028700" lvl="1" indent="-342900">
              <a:lnSpc>
                <a:spcPct val="150000"/>
              </a:lnSpc>
              <a:buFont typeface="Arial"/>
              <a:buChar char="•"/>
            </a:pPr>
            <a:r>
              <a:rPr lang="pt-PT" b="1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56%</a:t>
            </a:r>
            <a:r>
              <a:rPr lang="pt-PT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 </a:t>
            </a:r>
            <a:r>
              <a:rPr lang="pt-PT" dirty="0" err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adult</a:t>
            </a:r>
            <a:r>
              <a:rPr lang="pt-PT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 </a:t>
            </a:r>
            <a:r>
              <a:rPr lang="pt-PT" dirty="0" err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women</a:t>
            </a:r>
            <a:r>
              <a:rPr lang="pt-PT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 </a:t>
            </a:r>
            <a:r>
              <a:rPr lang="pt-PT" dirty="0" err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saved</a:t>
            </a:r>
            <a:endParaRPr lang="pt-PT" dirty="0">
              <a:solidFill>
                <a:schemeClr val="bg2">
                  <a:lumMod val="25000"/>
                </a:schemeClr>
              </a:solidFill>
              <a:latin typeface="Segoe UI Variable Text"/>
              <a:cs typeface="Segoe UI Variable Text"/>
            </a:endParaRPr>
          </a:p>
          <a:p>
            <a:pPr marL="571500" indent="-342900">
              <a:lnSpc>
                <a:spcPct val="200000"/>
              </a:lnSpc>
              <a:buFont typeface="Arial"/>
              <a:buChar char="•"/>
            </a:pPr>
            <a:r>
              <a:rPr lang="pt-PT" sz="2000" b="1" dirty="0" err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Socioeconomics</a:t>
            </a:r>
            <a:r>
              <a:rPr lang="pt-PT" sz="2000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 status </a:t>
            </a:r>
            <a:r>
              <a:rPr lang="pt-PT" sz="2000" dirty="0" err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had</a:t>
            </a:r>
            <a:r>
              <a:rPr lang="pt-PT" sz="2000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 </a:t>
            </a:r>
            <a:r>
              <a:rPr lang="pt-PT" sz="2000" dirty="0" err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impact</a:t>
            </a:r>
            <a:r>
              <a:rPr lang="pt-PT" sz="2000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:</a:t>
            </a:r>
            <a:endParaRPr lang="pt-PT" dirty="0">
              <a:solidFill>
                <a:schemeClr val="bg2">
                  <a:lumMod val="25000"/>
                </a:schemeClr>
              </a:solidFill>
              <a:latin typeface="Aptos" panose="02110004020202020204"/>
              <a:cs typeface="Segoe UI Variable Text"/>
            </a:endParaRPr>
          </a:p>
          <a:p>
            <a:pPr marL="1028700" lvl="1" indent="-342900">
              <a:lnSpc>
                <a:spcPct val="150000"/>
              </a:lnSpc>
              <a:buFont typeface="Arial"/>
              <a:buChar char="•"/>
            </a:pPr>
            <a:r>
              <a:rPr lang="pt-PT" dirty="0" err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High</a:t>
            </a:r>
            <a:r>
              <a:rPr lang="pt-PT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 </a:t>
            </a:r>
            <a:r>
              <a:rPr lang="pt-PT" b="1" dirty="0" err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mortality</a:t>
            </a:r>
            <a:r>
              <a:rPr lang="pt-PT" b="1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 rate </a:t>
            </a:r>
            <a:r>
              <a:rPr lang="pt-PT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in </a:t>
            </a:r>
            <a:r>
              <a:rPr lang="pt-PT" b="1" dirty="0" err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Class</a:t>
            </a:r>
            <a:r>
              <a:rPr lang="pt-PT" b="1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 3</a:t>
            </a:r>
            <a:r>
              <a:rPr lang="pt-PT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 (76%)</a:t>
            </a:r>
          </a:p>
          <a:p>
            <a:pPr marL="571500" indent="-342900">
              <a:lnSpc>
                <a:spcPct val="200000"/>
              </a:lnSpc>
              <a:buFont typeface="Arial"/>
              <a:buChar char="•"/>
            </a:pPr>
            <a:r>
              <a:rPr lang="pt-PT" sz="2000" b="1" dirty="0" err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Family</a:t>
            </a:r>
            <a:r>
              <a:rPr lang="pt-PT" sz="2000" b="1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 </a:t>
            </a:r>
            <a:r>
              <a:rPr lang="pt-PT" sz="2000" b="1" dirty="0" err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structure</a:t>
            </a:r>
            <a:r>
              <a:rPr lang="pt-PT" sz="2000" b="1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:</a:t>
            </a:r>
            <a:endParaRPr lang="pt-PT" dirty="0">
              <a:solidFill>
                <a:schemeClr val="bg2">
                  <a:lumMod val="25000"/>
                </a:schemeClr>
              </a:solidFill>
              <a:latin typeface="Aptos" panose="02110004020202020204"/>
              <a:cs typeface="Segoe UI Variable Text"/>
            </a:endParaRPr>
          </a:p>
          <a:p>
            <a:pPr marL="1028700" lvl="1" indent="-342900">
              <a:lnSpc>
                <a:spcPct val="150000"/>
              </a:lnSpc>
              <a:buFont typeface="Arial"/>
              <a:buChar char="•"/>
            </a:pPr>
            <a:r>
              <a:rPr lang="pt-PT" b="1" dirty="0" err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Smaller</a:t>
            </a:r>
            <a:r>
              <a:rPr lang="pt-PT" b="1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 </a:t>
            </a:r>
            <a:r>
              <a:rPr lang="pt-PT" b="1" dirty="0" err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families</a:t>
            </a:r>
            <a:r>
              <a:rPr lang="pt-PT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 </a:t>
            </a:r>
            <a:r>
              <a:rPr lang="pt-PT" dirty="0" err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had</a:t>
            </a:r>
            <a:r>
              <a:rPr lang="pt-PT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 </a:t>
            </a:r>
            <a:r>
              <a:rPr lang="pt-PT" dirty="0" err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higher</a:t>
            </a:r>
            <a:r>
              <a:rPr lang="pt-PT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 </a:t>
            </a:r>
            <a:r>
              <a:rPr lang="pt-PT" dirty="0" err="1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survival</a:t>
            </a:r>
            <a:r>
              <a:rPr lang="pt-PT" dirty="0">
                <a:solidFill>
                  <a:schemeClr val="bg2">
                    <a:lumMod val="25000"/>
                  </a:schemeClr>
                </a:solidFill>
                <a:latin typeface="Segoe UI Variable Text"/>
                <a:cs typeface="Segoe UI Variable Text"/>
              </a:rPr>
              <a:t> rate</a:t>
            </a:r>
          </a:p>
        </p:txBody>
      </p:sp>
    </p:spTree>
    <p:extLst>
      <p:ext uri="{BB962C8B-B14F-4D97-AF65-F5344CB8AC3E}">
        <p14:creationId xmlns:p14="http://schemas.microsoft.com/office/powerpoint/2010/main" val="65384689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A0203E-C129-2070-3E7E-0EDDDCDCEC98}"/>
              </a:ext>
            </a:extLst>
          </p:cNvPr>
          <p:cNvSpPr txBox="1"/>
          <p:nvPr/>
        </p:nvSpPr>
        <p:spPr>
          <a:xfrm>
            <a:off x="1314824" y="735106"/>
            <a:ext cx="10053763" cy="292847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>
                <a:solidFill>
                  <a:srgbClr val="FFFFFF"/>
                </a:solidFill>
                <a:latin typeface="Segoe UI Variable Text"/>
                <a:ea typeface="+mj-ea"/>
                <a:cs typeface="Segoe UI Variable Text"/>
              </a:rPr>
              <a:t>TITANIC SURVIVAL KIT</a:t>
            </a:r>
            <a:endParaRPr lang="en-US" sz="4800" kern="1200">
              <a:solidFill>
                <a:srgbClr val="FFFFFF"/>
              </a:solidFill>
              <a:latin typeface="Segoe UI Variable Text"/>
              <a:ea typeface="+mj-ea"/>
              <a:cs typeface="Segoe UI Variable Text"/>
            </a:endParaRP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9656D8FC-E697-A687-1C4A-8C50DAF1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46837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79E628FB-DA81-4D2B-86DD-432ED2A29FDE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17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67CD294F-55B0-FD04-64F0-BC4AA0D7C04E}"/>
              </a:ext>
            </a:extLst>
          </p:cNvPr>
          <p:cNvGrpSpPr/>
          <p:nvPr/>
        </p:nvGrpSpPr>
        <p:grpSpPr>
          <a:xfrm>
            <a:off x="8540794" y="368709"/>
            <a:ext cx="3318081" cy="505710"/>
            <a:chOff x="7922268" y="5920423"/>
            <a:chExt cx="3460686" cy="505710"/>
          </a:xfrm>
        </p:grpSpPr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2A285CD0-3DAB-FCF0-4E14-828D21438FCA}"/>
                </a:ext>
              </a:extLst>
            </p:cNvPr>
            <p:cNvSpPr txBox="1"/>
            <p:nvPr/>
          </p:nvSpPr>
          <p:spPr>
            <a:xfrm>
              <a:off x="7922268" y="6087579"/>
              <a:ext cx="3065185" cy="33855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pt-BR" sz="1600" b="1">
                  <a:solidFill>
                    <a:schemeClr val="bg1"/>
                  </a:solidFill>
                  <a:latin typeface="Segoe UI Variable Text"/>
                  <a:cs typeface="Segoe UI Variable Text"/>
                </a:rPr>
                <a:t>Survival rate</a:t>
              </a:r>
              <a:r>
                <a:rPr lang="pt-BR" sz="1600">
                  <a:solidFill>
                    <a:schemeClr val="bg1"/>
                  </a:solidFill>
                  <a:latin typeface="Segoe UI Variable Text"/>
                  <a:cs typeface="Segoe UI Variable Text"/>
                </a:rPr>
                <a:t> not guaranteed</a:t>
              </a:r>
            </a:p>
          </p:txBody>
        </p:sp>
        <p:pic>
          <p:nvPicPr>
            <p:cNvPr id="17" name="Gráfico 16" descr="Aviso com preenchimento sólido">
              <a:extLst>
                <a:ext uri="{FF2B5EF4-FFF2-40B4-BE49-F238E27FC236}">
                  <a16:creationId xmlns:a16="http://schemas.microsoft.com/office/drawing/2014/main" id="{C75D30D0-2F2E-8EB8-A33B-2EC54F102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858004" y="5920423"/>
              <a:ext cx="524950" cy="484241"/>
            </a:xfrm>
            <a:prstGeom prst="rect">
              <a:avLst/>
            </a:prstGeom>
          </p:spPr>
        </p:pic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8EEC9F86-FA2E-C340-CF31-6EC289510101}"/>
              </a:ext>
            </a:extLst>
          </p:cNvPr>
          <p:cNvGrpSpPr/>
          <p:nvPr/>
        </p:nvGrpSpPr>
        <p:grpSpPr>
          <a:xfrm>
            <a:off x="7894485" y="4567835"/>
            <a:ext cx="3478390" cy="1703304"/>
            <a:chOff x="7208685" y="4687578"/>
            <a:chExt cx="3478390" cy="1703304"/>
          </a:xfrm>
        </p:grpSpPr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4679560E-9CDB-55B9-6FA4-BFDAED9132E6}"/>
                </a:ext>
              </a:extLst>
            </p:cNvPr>
            <p:cNvSpPr txBox="1"/>
            <p:nvPr/>
          </p:nvSpPr>
          <p:spPr>
            <a:xfrm>
              <a:off x="7208685" y="5559885"/>
              <a:ext cx="3478390" cy="83099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pt-BR" sz="2400" err="1">
                  <a:latin typeface="Segoe UI Variable Text"/>
                  <a:cs typeface="Segoe UI Variable Text"/>
                </a:rPr>
                <a:t>Buy</a:t>
              </a:r>
              <a:r>
                <a:rPr lang="pt-BR" sz="2400">
                  <a:latin typeface="Segoe UI Variable Text"/>
                  <a:cs typeface="Segoe UI Variable Text"/>
                </a:rPr>
                <a:t> a </a:t>
              </a:r>
              <a:r>
                <a:rPr lang="pt-BR" sz="2400" b="1" err="1">
                  <a:latin typeface="Segoe UI Variable Text"/>
                  <a:cs typeface="Segoe UI Variable Text"/>
                </a:rPr>
                <a:t>Class</a:t>
              </a:r>
              <a:r>
                <a:rPr lang="pt-BR" sz="2400" b="1">
                  <a:latin typeface="Segoe UI Variable Text"/>
                  <a:cs typeface="Segoe UI Variable Text"/>
                </a:rPr>
                <a:t> 1 Ticket</a:t>
              </a:r>
              <a:r>
                <a:rPr lang="pt-BR" sz="2400">
                  <a:latin typeface="Segoe UI Variable Text"/>
                  <a:cs typeface="Segoe UI Variable Text"/>
                </a:rPr>
                <a:t>, </a:t>
              </a:r>
              <a:endParaRPr lang="pt-BR"/>
            </a:p>
            <a:p>
              <a:r>
                <a:rPr lang="pt-BR" sz="2400">
                  <a:latin typeface="Segoe UI Variable Text"/>
                  <a:cs typeface="Segoe UI Variable Text"/>
                </a:rPr>
                <a:t>for </a:t>
              </a:r>
              <a:r>
                <a:rPr lang="pt-BR" sz="2400" err="1">
                  <a:latin typeface="Segoe UI Variable Text"/>
                  <a:cs typeface="Segoe UI Variable Text"/>
                </a:rPr>
                <a:t>better</a:t>
              </a:r>
              <a:r>
                <a:rPr lang="pt-BR" sz="2400">
                  <a:latin typeface="Segoe UI Variable Text"/>
                  <a:cs typeface="Segoe UI Variable Text"/>
                </a:rPr>
                <a:t> </a:t>
              </a:r>
              <a:r>
                <a:rPr lang="pt-BR" sz="2400" strike="sngStrike">
                  <a:latin typeface="Segoe UI Variable Text"/>
                  <a:cs typeface="Segoe UI Variable Text"/>
                </a:rPr>
                <a:t>position</a:t>
              </a:r>
              <a:r>
                <a:rPr lang="pt-BR" sz="2400">
                  <a:latin typeface="Segoe UI Variable Text"/>
                  <a:cs typeface="Segoe UI Variable Text"/>
                </a:rPr>
                <a:t> </a:t>
              </a:r>
              <a:r>
                <a:rPr lang="pt-BR" sz="2400" err="1">
                  <a:latin typeface="Segoe UI Variable Text"/>
                  <a:cs typeface="Segoe UI Variable Text"/>
                </a:rPr>
                <a:t>view</a:t>
              </a:r>
              <a:r>
                <a:rPr lang="pt-BR" sz="2400">
                  <a:latin typeface="Segoe UI Variable Text"/>
                  <a:cs typeface="Segoe UI Variable Text"/>
                </a:rPr>
                <a:t>.</a:t>
              </a:r>
              <a:endParaRPr lang="pt-BR"/>
            </a:p>
          </p:txBody>
        </p:sp>
        <p:pic>
          <p:nvPicPr>
            <p:cNvPr id="23" name="Gráfico 22" descr="Dinheiro com preenchimento sólido">
              <a:extLst>
                <a:ext uri="{FF2B5EF4-FFF2-40B4-BE49-F238E27FC236}">
                  <a16:creationId xmlns:a16="http://schemas.microsoft.com/office/drawing/2014/main" id="{8D0740D1-F5F1-8618-6552-83318E4EAD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41929" y="4687578"/>
              <a:ext cx="914400" cy="914400"/>
            </a:xfrm>
            <a:prstGeom prst="rect">
              <a:avLst/>
            </a:prstGeom>
          </p:spPr>
        </p:pic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2212FA41-55F0-54B5-6D61-BDE64763B878}"/>
              </a:ext>
            </a:extLst>
          </p:cNvPr>
          <p:cNvGrpSpPr/>
          <p:nvPr/>
        </p:nvGrpSpPr>
        <p:grpSpPr>
          <a:xfrm>
            <a:off x="678815" y="4551548"/>
            <a:ext cx="1993085" cy="1702025"/>
            <a:chOff x="678815" y="4551548"/>
            <a:chExt cx="1993085" cy="1702025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A737CB02-72EF-1E38-1B71-76684C1DFD04}"/>
                </a:ext>
              </a:extLst>
            </p:cNvPr>
            <p:cNvSpPr txBox="1"/>
            <p:nvPr/>
          </p:nvSpPr>
          <p:spPr>
            <a:xfrm>
              <a:off x="678815" y="5422576"/>
              <a:ext cx="1993085" cy="83099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pt-BR" sz="2400">
                  <a:latin typeface="Segoe UI Variable Text"/>
                  <a:cs typeface="Segoe UI Variable Text"/>
                </a:rPr>
                <a:t>Be a </a:t>
              </a:r>
              <a:r>
                <a:rPr lang="pt-BR" sz="2400" b="1">
                  <a:latin typeface="Segoe UI Variable Text"/>
                  <a:cs typeface="Segoe UI Variable Text"/>
                </a:rPr>
                <a:t>child</a:t>
              </a:r>
              <a:r>
                <a:rPr lang="pt-BR" sz="2400">
                  <a:latin typeface="Segoe UI Variable Text"/>
                  <a:cs typeface="Segoe UI Variable Text"/>
                </a:rPr>
                <a:t>...</a:t>
              </a:r>
              <a:r>
                <a:rPr lang="pt-BR" sz="2400" b="1">
                  <a:latin typeface="Segoe UI Variable Text"/>
                  <a:cs typeface="Segoe UI Variable Text"/>
                </a:rPr>
                <a:t> </a:t>
              </a:r>
              <a:r>
                <a:rPr lang="pt-BR" sz="2400">
                  <a:latin typeface="Segoe UI Variable Text"/>
                  <a:cs typeface="Segoe UI Variable Text"/>
                </a:rPr>
                <a:t>or a </a:t>
              </a:r>
              <a:r>
                <a:rPr lang="pt-BR" sz="2400" b="1">
                  <a:latin typeface="Segoe UI Variable Text"/>
                  <a:cs typeface="Segoe UI Variable Text"/>
                </a:rPr>
                <a:t>woman</a:t>
              </a:r>
              <a:r>
                <a:rPr lang="pt-BR" sz="2400">
                  <a:latin typeface="Segoe UI Variable Text"/>
                  <a:cs typeface="Segoe UI Variable Text"/>
                </a:rPr>
                <a:t>!</a:t>
              </a:r>
            </a:p>
          </p:txBody>
        </p:sp>
        <p:grpSp>
          <p:nvGrpSpPr>
            <p:cNvPr id="30" name="Agrupar 29">
              <a:extLst>
                <a:ext uri="{FF2B5EF4-FFF2-40B4-BE49-F238E27FC236}">
                  <a16:creationId xmlns:a16="http://schemas.microsoft.com/office/drawing/2014/main" id="{144C1DC2-ADE9-5187-0E70-29DE5EC30E76}"/>
                </a:ext>
              </a:extLst>
            </p:cNvPr>
            <p:cNvGrpSpPr/>
            <p:nvPr/>
          </p:nvGrpSpPr>
          <p:grpSpPr>
            <a:xfrm>
              <a:off x="1024907" y="4551548"/>
              <a:ext cx="1205507" cy="802107"/>
              <a:chOff x="1024907" y="4551548"/>
              <a:chExt cx="1205507" cy="802107"/>
            </a:xfrm>
          </p:grpSpPr>
          <p:pic>
            <p:nvPicPr>
              <p:cNvPr id="24" name="Gráfico 23" descr="Mulher com preenchimento sólido">
                <a:extLst>
                  <a:ext uri="{FF2B5EF4-FFF2-40B4-BE49-F238E27FC236}">
                    <a16:creationId xmlns:a16="http://schemas.microsoft.com/office/drawing/2014/main" id="{33A0BE26-803C-050B-09CD-8C03DC64D5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519546" y="4654305"/>
                <a:ext cx="710868" cy="699350"/>
              </a:xfrm>
              <a:prstGeom prst="rect">
                <a:avLst/>
              </a:prstGeom>
            </p:spPr>
          </p:pic>
          <p:pic>
            <p:nvPicPr>
              <p:cNvPr id="26" name="Gráfico 25" descr="Criança com balão com preenchimento sólido">
                <a:extLst>
                  <a:ext uri="{FF2B5EF4-FFF2-40B4-BE49-F238E27FC236}">
                    <a16:creationId xmlns:a16="http://schemas.microsoft.com/office/drawing/2014/main" id="{7A6D60B9-B092-C4BE-646B-F0804B4ABC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024907" y="4551548"/>
                <a:ext cx="798946" cy="798946"/>
              </a:xfrm>
              <a:prstGeom prst="rect">
                <a:avLst/>
              </a:prstGeom>
            </p:spPr>
          </p:pic>
        </p:grp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45982ACF-BA91-1DA5-5BCC-4429D0835AC0}"/>
              </a:ext>
            </a:extLst>
          </p:cNvPr>
          <p:cNvGrpSpPr/>
          <p:nvPr/>
        </p:nvGrpSpPr>
        <p:grpSpPr>
          <a:xfrm>
            <a:off x="3666842" y="4530479"/>
            <a:ext cx="3727777" cy="1779067"/>
            <a:chOff x="3051963" y="4638676"/>
            <a:chExt cx="3727777" cy="1779067"/>
          </a:xfrm>
        </p:grpSpPr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0678E55D-5FCD-5600-9A43-4390EA4143A9}"/>
                </a:ext>
              </a:extLst>
            </p:cNvPr>
            <p:cNvSpPr txBox="1"/>
            <p:nvPr/>
          </p:nvSpPr>
          <p:spPr>
            <a:xfrm>
              <a:off x="3051963" y="5586746"/>
              <a:ext cx="3727777" cy="83099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pt-BR" sz="2400" err="1">
                  <a:latin typeface="Segoe UI Variable Text"/>
                  <a:cs typeface="Segoe UI Variable Text"/>
                </a:rPr>
                <a:t>Travel</a:t>
              </a:r>
              <a:r>
                <a:rPr lang="pt-BR" sz="2400">
                  <a:latin typeface="Segoe UI Variable Text"/>
                  <a:cs typeface="Segoe UI Variable Text"/>
                </a:rPr>
                <a:t> </a:t>
              </a:r>
              <a:r>
                <a:rPr lang="pt-BR" sz="2400" err="1">
                  <a:latin typeface="Segoe UI Variable Text"/>
                  <a:cs typeface="Segoe UI Variable Text"/>
                </a:rPr>
                <a:t>with</a:t>
              </a:r>
              <a:r>
                <a:rPr lang="pt-BR" sz="2400">
                  <a:latin typeface="Segoe UI Variable Text"/>
                  <a:cs typeface="Segoe UI Variable Text"/>
                </a:rPr>
                <a:t> </a:t>
              </a:r>
              <a:r>
                <a:rPr lang="pt-BR" sz="2400" b="1" err="1">
                  <a:latin typeface="Segoe UI Variable Text"/>
                  <a:cs typeface="Segoe UI Variable Text"/>
                </a:rPr>
                <a:t>family</a:t>
              </a:r>
              <a:r>
                <a:rPr lang="pt-BR" sz="2400">
                  <a:latin typeface="Segoe UI Variable Text"/>
                  <a:cs typeface="Segoe UI Variable Text"/>
                </a:rPr>
                <a:t>, </a:t>
              </a:r>
              <a:r>
                <a:rPr lang="pt-BR" sz="2400" err="1">
                  <a:latin typeface="Segoe UI Variable Text"/>
                  <a:cs typeface="Segoe UI Variable Text"/>
                </a:rPr>
                <a:t>preferably</a:t>
              </a:r>
              <a:r>
                <a:rPr lang="pt-BR" sz="2400">
                  <a:latin typeface="Segoe UI Variable Text"/>
                  <a:cs typeface="Segoe UI Variable Text"/>
                </a:rPr>
                <a:t> a </a:t>
              </a:r>
              <a:r>
                <a:rPr lang="pt-BR" sz="2400" err="1">
                  <a:latin typeface="Segoe UI Variable Text"/>
                  <a:cs typeface="Segoe UI Variable Text"/>
                </a:rPr>
                <a:t>small</a:t>
              </a:r>
              <a:r>
                <a:rPr lang="pt-BR" sz="2400">
                  <a:latin typeface="Segoe UI Variable Text"/>
                  <a:cs typeface="Segoe UI Variable Text"/>
                </a:rPr>
                <a:t> </a:t>
              </a:r>
              <a:r>
                <a:rPr lang="pt-BR" sz="2400" err="1">
                  <a:latin typeface="Segoe UI Variable Text"/>
                  <a:cs typeface="Segoe UI Variable Text"/>
                </a:rPr>
                <a:t>one</a:t>
              </a:r>
              <a:r>
                <a:rPr lang="pt-BR" sz="2400">
                  <a:latin typeface="Segoe UI Variable Text"/>
                  <a:cs typeface="Segoe UI Variable Text"/>
                </a:rPr>
                <a:t>...</a:t>
              </a:r>
            </a:p>
          </p:txBody>
        </p:sp>
        <p:pic>
          <p:nvPicPr>
            <p:cNvPr id="27" name="Gráfico 26" descr="Sucesso do grupo com preenchimento sólido">
              <a:extLst>
                <a:ext uri="{FF2B5EF4-FFF2-40B4-BE49-F238E27FC236}">
                  <a16:creationId xmlns:a16="http://schemas.microsoft.com/office/drawing/2014/main" id="{4A9E2A26-8337-8221-3E55-81B8DA752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009282" y="4638676"/>
              <a:ext cx="1132114" cy="10885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7302641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88897D3-EAA4-4D0B-8601-478189E68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208" y="857251"/>
            <a:ext cx="4747280" cy="30980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QUESTIONS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3FE5FCB5-77E8-8988-E0AC-485537D61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1600"/>
            <a:ext cx="4445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79E628FB-DA81-4D2B-86DD-432ED2A29FDE}" type="slidenum">
              <a:rPr lang="en-US" sz="1100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18</a:t>
            </a:fld>
            <a:endParaRPr lang="en-US" sz="1100">
              <a:solidFill>
                <a:srgbClr val="FFFFFF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 descr="Uma imagem com transporte, navio, embarcação, desenho&#10;&#10;Os conteúdos gerados por IA podem estar incorretos.">
            <a:extLst>
              <a:ext uri="{FF2B5EF4-FFF2-40B4-BE49-F238E27FC236}">
                <a16:creationId xmlns:a16="http://schemas.microsoft.com/office/drawing/2014/main" id="{7B8C4476-4068-0EA5-5421-41E958E905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022" r="37702"/>
          <a:stretch>
            <a:fillRect/>
          </a:stretch>
        </p:blipFill>
        <p:spPr>
          <a:xfrm flipH="1">
            <a:off x="6337658" y="1049582"/>
            <a:ext cx="4743853" cy="492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942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erde-azulado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18</Slides>
  <Notes>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19" baseType="lpstr">
      <vt:lpstr>Office Theme</vt:lpstr>
      <vt:lpstr>PYTHON –  FINAL PROJECT  TITANIC</vt:lpstr>
      <vt:lpstr>INTRODUCTION</vt:lpstr>
      <vt:lpstr>DATA TREATMENT</vt:lpstr>
      <vt:lpstr>OVERALL STATISTICS</vt:lpstr>
      <vt:lpstr>DISTRIBUTION OF PASSENGERS BY GENDER</vt:lpstr>
      <vt:lpstr>GENDER COMPARISON OF SURVIVERS AND NON-SURVIVERS</vt:lpstr>
      <vt:lpstr>Apresentação do PowerPoint</vt:lpstr>
      <vt:lpstr>CORRELATION MATRIX - HEATMAP</vt:lpstr>
      <vt:lpstr>STUDY QUESTIONS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WHAT IS THE SURVIVAL RATE BY AGE GROUP?</vt:lpstr>
      <vt:lpstr>Apresentação do PowerPoint</vt:lpstr>
      <vt:lpstr>Apresentação do PowerPoint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Joana Correia</dc:creator>
  <cp:revision>47</cp:revision>
  <dcterms:created xsi:type="dcterms:W3CDTF">2025-11-16T12:04:21Z</dcterms:created>
  <dcterms:modified xsi:type="dcterms:W3CDTF">2025-11-23T20:33:28Z</dcterms:modified>
</cp:coreProperties>
</file>